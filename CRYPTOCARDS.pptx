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421337-95D6-4485-8D4C-32779234330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CD39D7D-3F97-41EE-A488-551E89FECC27}">
      <dgm:prSet/>
      <dgm:spPr/>
      <dgm:t>
        <a:bodyPr/>
        <a:lstStyle/>
        <a:p>
          <a:r>
            <a:rPr lang="en-GB" b="1"/>
            <a:t>Frontend:</a:t>
          </a:r>
          <a:r>
            <a:rPr lang="en-GB"/>
            <a:t> React/Next.js (uporabniški vmesnik).</a:t>
          </a:r>
          <a:endParaRPr lang="en-US"/>
        </a:p>
      </dgm:t>
    </dgm:pt>
    <dgm:pt modelId="{EBAA799F-FC7F-404A-B762-E3ABEEA7BD08}" type="parTrans" cxnId="{C7303944-8717-4DCB-B936-0BA58C0EB94F}">
      <dgm:prSet/>
      <dgm:spPr/>
      <dgm:t>
        <a:bodyPr/>
        <a:lstStyle/>
        <a:p>
          <a:endParaRPr lang="en-US"/>
        </a:p>
      </dgm:t>
    </dgm:pt>
    <dgm:pt modelId="{44950C28-32C2-43A7-B82A-8A61A46B0EFA}" type="sibTrans" cxnId="{C7303944-8717-4DCB-B936-0BA58C0EB94F}">
      <dgm:prSet/>
      <dgm:spPr/>
      <dgm:t>
        <a:bodyPr/>
        <a:lstStyle/>
        <a:p>
          <a:endParaRPr lang="en-US"/>
        </a:p>
      </dgm:t>
    </dgm:pt>
    <dgm:pt modelId="{35D72656-6A92-4362-B8EC-F5EC44AF7940}">
      <dgm:prSet/>
      <dgm:spPr/>
      <dgm:t>
        <a:bodyPr/>
        <a:lstStyle/>
        <a:p>
          <a:r>
            <a:rPr lang="en-GB" b="1"/>
            <a:t>Backend:</a:t>
          </a:r>
          <a:r>
            <a:rPr lang="en-GB"/>
            <a:t> Node.js za logiko igre v realnem času.</a:t>
          </a:r>
          <a:endParaRPr lang="en-US"/>
        </a:p>
      </dgm:t>
    </dgm:pt>
    <dgm:pt modelId="{6FBFA731-00A0-4F0C-A5DD-5E81D21D6DED}" type="parTrans" cxnId="{D4C9BFAF-1022-43F8-8B40-3FE215663056}">
      <dgm:prSet/>
      <dgm:spPr/>
      <dgm:t>
        <a:bodyPr/>
        <a:lstStyle/>
        <a:p>
          <a:endParaRPr lang="en-US"/>
        </a:p>
      </dgm:t>
    </dgm:pt>
    <dgm:pt modelId="{5F8BF98B-7E41-48B4-B984-A4CE94354562}" type="sibTrans" cxnId="{D4C9BFAF-1022-43F8-8B40-3FE215663056}">
      <dgm:prSet/>
      <dgm:spPr/>
      <dgm:t>
        <a:bodyPr/>
        <a:lstStyle/>
        <a:p>
          <a:endParaRPr lang="en-US"/>
        </a:p>
      </dgm:t>
    </dgm:pt>
    <dgm:pt modelId="{C76E31F9-7F1F-4EE5-8012-AFBCBB722161}">
      <dgm:prSet/>
      <dgm:spPr/>
      <dgm:t>
        <a:bodyPr/>
        <a:lstStyle/>
        <a:p>
          <a:r>
            <a:rPr lang="en-GB" b="1"/>
            <a:t>Blockchain plast:</a:t>
          </a:r>
          <a:r>
            <a:rPr lang="en-GB"/>
            <a:t> Solidity Smart Contracts (za varno hrambo stav in izplačila).</a:t>
          </a:r>
          <a:endParaRPr lang="en-US"/>
        </a:p>
      </dgm:t>
    </dgm:pt>
    <dgm:pt modelId="{EAEC5F16-7545-4DFD-AD1B-790214673191}" type="parTrans" cxnId="{68EC2A22-6F89-4451-8195-6BB540503CCC}">
      <dgm:prSet/>
      <dgm:spPr/>
      <dgm:t>
        <a:bodyPr/>
        <a:lstStyle/>
        <a:p>
          <a:endParaRPr lang="en-US"/>
        </a:p>
      </dgm:t>
    </dgm:pt>
    <dgm:pt modelId="{2C1E7C42-3AE7-423E-889F-F1E28C0B8395}" type="sibTrans" cxnId="{68EC2A22-6F89-4451-8195-6BB540503CCC}">
      <dgm:prSet/>
      <dgm:spPr/>
      <dgm:t>
        <a:bodyPr/>
        <a:lstStyle/>
        <a:p>
          <a:endParaRPr lang="en-US"/>
        </a:p>
      </dgm:t>
    </dgm:pt>
    <dgm:pt modelId="{CF3A8D9D-0B22-4282-ADAD-1A84948C047C}">
      <dgm:prSet/>
      <dgm:spPr/>
      <dgm:t>
        <a:bodyPr/>
        <a:lstStyle/>
        <a:p>
          <a:r>
            <a:rPr lang="en-GB" b="1"/>
            <a:t>Denarnica:</a:t>
          </a:r>
          <a:r>
            <a:rPr lang="en-GB"/>
            <a:t> Integracija z MetaMask / Trust Wallet.</a:t>
          </a:r>
          <a:endParaRPr lang="en-US"/>
        </a:p>
      </dgm:t>
    </dgm:pt>
    <dgm:pt modelId="{DCC931AF-D088-4C7A-A0C0-D73387AD77CC}" type="parTrans" cxnId="{0657C4E3-EB4E-4D49-9B56-BF0542DD77EE}">
      <dgm:prSet/>
      <dgm:spPr/>
      <dgm:t>
        <a:bodyPr/>
        <a:lstStyle/>
        <a:p>
          <a:endParaRPr lang="en-US"/>
        </a:p>
      </dgm:t>
    </dgm:pt>
    <dgm:pt modelId="{00E31383-3780-47D7-93EE-E410F5BF5819}" type="sibTrans" cxnId="{0657C4E3-EB4E-4D49-9B56-BF0542DD77EE}">
      <dgm:prSet/>
      <dgm:spPr/>
      <dgm:t>
        <a:bodyPr/>
        <a:lstStyle/>
        <a:p>
          <a:endParaRPr lang="en-US"/>
        </a:p>
      </dgm:t>
    </dgm:pt>
    <dgm:pt modelId="{51E2501F-FE4D-4D0D-91B3-FABE74B4A285}" type="pres">
      <dgm:prSet presAssocID="{9A421337-95D6-4485-8D4C-32779234330E}" presName="root" presStyleCnt="0">
        <dgm:presLayoutVars>
          <dgm:dir/>
          <dgm:resizeHandles val="exact"/>
        </dgm:presLayoutVars>
      </dgm:prSet>
      <dgm:spPr/>
    </dgm:pt>
    <dgm:pt modelId="{52DF1F13-6767-4250-9F0C-56F787DD5EF4}" type="pres">
      <dgm:prSet presAssocID="{ECD39D7D-3F97-41EE-A488-551E89FECC27}" presName="compNode" presStyleCnt="0"/>
      <dgm:spPr/>
    </dgm:pt>
    <dgm:pt modelId="{348B4855-7ABA-4076-9381-B78D48C24709}" type="pres">
      <dgm:prSet presAssocID="{ECD39D7D-3F97-41EE-A488-551E89FECC27}" presName="bgRect" presStyleLbl="bgShp" presStyleIdx="0" presStyleCnt="4"/>
      <dgm:spPr/>
    </dgm:pt>
    <dgm:pt modelId="{FF0CDB81-F199-4583-B9CE-AF0E075F99B7}" type="pres">
      <dgm:prSet presAssocID="{ECD39D7D-3F97-41EE-A488-551E89FECC2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napisi"/>
        </a:ext>
      </dgm:extLst>
    </dgm:pt>
    <dgm:pt modelId="{BD48B889-E150-425F-8C02-28639DC14B75}" type="pres">
      <dgm:prSet presAssocID="{ECD39D7D-3F97-41EE-A488-551E89FECC27}" presName="spaceRect" presStyleCnt="0"/>
      <dgm:spPr/>
    </dgm:pt>
    <dgm:pt modelId="{3BA74CAF-67F8-4FE0-831B-A1371435280C}" type="pres">
      <dgm:prSet presAssocID="{ECD39D7D-3F97-41EE-A488-551E89FECC27}" presName="parTx" presStyleLbl="revTx" presStyleIdx="0" presStyleCnt="4">
        <dgm:presLayoutVars>
          <dgm:chMax val="0"/>
          <dgm:chPref val="0"/>
        </dgm:presLayoutVars>
      </dgm:prSet>
      <dgm:spPr/>
    </dgm:pt>
    <dgm:pt modelId="{95E26534-A17D-4C7F-807C-D6174CA75438}" type="pres">
      <dgm:prSet presAssocID="{44950C28-32C2-43A7-B82A-8A61A46B0EFA}" presName="sibTrans" presStyleCnt="0"/>
      <dgm:spPr/>
    </dgm:pt>
    <dgm:pt modelId="{AA06CF01-4DAA-4264-9E64-213E4519C382}" type="pres">
      <dgm:prSet presAssocID="{35D72656-6A92-4362-B8EC-F5EC44AF7940}" presName="compNode" presStyleCnt="0"/>
      <dgm:spPr/>
    </dgm:pt>
    <dgm:pt modelId="{C1622F80-32F1-4A5B-AECC-919B46F39E7C}" type="pres">
      <dgm:prSet presAssocID="{35D72656-6A92-4362-B8EC-F5EC44AF7940}" presName="bgRect" presStyleLbl="bgShp" presStyleIdx="1" presStyleCnt="4"/>
      <dgm:spPr/>
    </dgm:pt>
    <dgm:pt modelId="{8B227D70-F744-4A8E-9B80-960200A55AAA}" type="pres">
      <dgm:prSet presAssocID="{35D72656-6A92-4362-B8EC-F5EC44AF794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čunalnik"/>
        </a:ext>
      </dgm:extLst>
    </dgm:pt>
    <dgm:pt modelId="{B3B03DED-1D06-4FC9-8A2D-63160BC42D08}" type="pres">
      <dgm:prSet presAssocID="{35D72656-6A92-4362-B8EC-F5EC44AF7940}" presName="spaceRect" presStyleCnt="0"/>
      <dgm:spPr/>
    </dgm:pt>
    <dgm:pt modelId="{7253B150-42E2-46F3-B33F-3D822D4A0664}" type="pres">
      <dgm:prSet presAssocID="{35D72656-6A92-4362-B8EC-F5EC44AF7940}" presName="parTx" presStyleLbl="revTx" presStyleIdx="1" presStyleCnt="4">
        <dgm:presLayoutVars>
          <dgm:chMax val="0"/>
          <dgm:chPref val="0"/>
        </dgm:presLayoutVars>
      </dgm:prSet>
      <dgm:spPr/>
    </dgm:pt>
    <dgm:pt modelId="{09A06F60-C1B6-4166-B94A-B628BA0B4FE7}" type="pres">
      <dgm:prSet presAssocID="{5F8BF98B-7E41-48B4-B984-A4CE94354562}" presName="sibTrans" presStyleCnt="0"/>
      <dgm:spPr/>
    </dgm:pt>
    <dgm:pt modelId="{BB7C435D-E1A6-4D12-9480-85212F698DED}" type="pres">
      <dgm:prSet presAssocID="{C76E31F9-7F1F-4EE5-8012-AFBCBB722161}" presName="compNode" presStyleCnt="0"/>
      <dgm:spPr/>
    </dgm:pt>
    <dgm:pt modelId="{7E7A805D-8F39-4398-B0E5-E236836203E0}" type="pres">
      <dgm:prSet presAssocID="{C76E31F9-7F1F-4EE5-8012-AFBCBB722161}" presName="bgRect" presStyleLbl="bgShp" presStyleIdx="2" presStyleCnt="4"/>
      <dgm:spPr/>
    </dgm:pt>
    <dgm:pt modelId="{BCE23736-31CB-449C-9571-FA22852B91C8}" type="pres">
      <dgm:prSet presAssocID="{C76E31F9-7F1F-4EE5-8012-AFBCBB72216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ča"/>
        </a:ext>
      </dgm:extLst>
    </dgm:pt>
    <dgm:pt modelId="{C7B77BE0-68D1-4509-B357-F6FBA570EDD4}" type="pres">
      <dgm:prSet presAssocID="{C76E31F9-7F1F-4EE5-8012-AFBCBB722161}" presName="spaceRect" presStyleCnt="0"/>
      <dgm:spPr/>
    </dgm:pt>
    <dgm:pt modelId="{D52042BD-C0A7-43BB-967E-DE0A1D60F3A0}" type="pres">
      <dgm:prSet presAssocID="{C76E31F9-7F1F-4EE5-8012-AFBCBB722161}" presName="parTx" presStyleLbl="revTx" presStyleIdx="2" presStyleCnt="4">
        <dgm:presLayoutVars>
          <dgm:chMax val="0"/>
          <dgm:chPref val="0"/>
        </dgm:presLayoutVars>
      </dgm:prSet>
      <dgm:spPr/>
    </dgm:pt>
    <dgm:pt modelId="{97CABF9D-7621-4BFB-A748-0EE601A7A859}" type="pres">
      <dgm:prSet presAssocID="{2C1E7C42-3AE7-423E-889F-F1E28C0B8395}" presName="sibTrans" presStyleCnt="0"/>
      <dgm:spPr/>
    </dgm:pt>
    <dgm:pt modelId="{0511034C-9ECE-4980-9F7A-FE62276594F3}" type="pres">
      <dgm:prSet presAssocID="{CF3A8D9D-0B22-4282-ADAD-1A84948C047C}" presName="compNode" presStyleCnt="0"/>
      <dgm:spPr/>
    </dgm:pt>
    <dgm:pt modelId="{F49467EC-5B3F-40DC-B1C2-B2C140F078A6}" type="pres">
      <dgm:prSet presAssocID="{CF3A8D9D-0B22-4282-ADAD-1A84948C047C}" presName="bgRect" presStyleLbl="bgShp" presStyleIdx="3" presStyleCnt="4"/>
      <dgm:spPr/>
    </dgm:pt>
    <dgm:pt modelId="{59456021-A3F1-4CF8-BE63-3CA366F3F70E}" type="pres">
      <dgm:prSet presAssocID="{CF3A8D9D-0B22-4282-ADAD-1A84948C047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narnica"/>
        </a:ext>
      </dgm:extLst>
    </dgm:pt>
    <dgm:pt modelId="{9279EF75-58D3-489E-9E54-79C41D3B263C}" type="pres">
      <dgm:prSet presAssocID="{CF3A8D9D-0B22-4282-ADAD-1A84948C047C}" presName="spaceRect" presStyleCnt="0"/>
      <dgm:spPr/>
    </dgm:pt>
    <dgm:pt modelId="{B7ABDFA8-3856-42FF-A12F-4343685D10A8}" type="pres">
      <dgm:prSet presAssocID="{CF3A8D9D-0B22-4282-ADAD-1A84948C047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C664C16-AAD8-43A1-B63A-2E4FD55F6F2D}" type="presOf" srcId="{CF3A8D9D-0B22-4282-ADAD-1A84948C047C}" destId="{B7ABDFA8-3856-42FF-A12F-4343685D10A8}" srcOrd="0" destOrd="0" presId="urn:microsoft.com/office/officeart/2018/2/layout/IconVerticalSolidList"/>
    <dgm:cxn modelId="{68EC2A22-6F89-4451-8195-6BB540503CCC}" srcId="{9A421337-95D6-4485-8D4C-32779234330E}" destId="{C76E31F9-7F1F-4EE5-8012-AFBCBB722161}" srcOrd="2" destOrd="0" parTransId="{EAEC5F16-7545-4DFD-AD1B-790214673191}" sibTransId="{2C1E7C42-3AE7-423E-889F-F1E28C0B8395}"/>
    <dgm:cxn modelId="{C7303944-8717-4DCB-B936-0BA58C0EB94F}" srcId="{9A421337-95D6-4485-8D4C-32779234330E}" destId="{ECD39D7D-3F97-41EE-A488-551E89FECC27}" srcOrd="0" destOrd="0" parTransId="{EBAA799F-FC7F-404A-B762-E3ABEEA7BD08}" sibTransId="{44950C28-32C2-43A7-B82A-8A61A46B0EFA}"/>
    <dgm:cxn modelId="{AB0B5457-C051-40AD-B6EF-ED62300E761C}" type="presOf" srcId="{9A421337-95D6-4485-8D4C-32779234330E}" destId="{51E2501F-FE4D-4D0D-91B3-FABE74B4A285}" srcOrd="0" destOrd="0" presId="urn:microsoft.com/office/officeart/2018/2/layout/IconVerticalSolidList"/>
    <dgm:cxn modelId="{D4C9BFAF-1022-43F8-8B40-3FE215663056}" srcId="{9A421337-95D6-4485-8D4C-32779234330E}" destId="{35D72656-6A92-4362-B8EC-F5EC44AF7940}" srcOrd="1" destOrd="0" parTransId="{6FBFA731-00A0-4F0C-A5DD-5E81D21D6DED}" sibTransId="{5F8BF98B-7E41-48B4-B984-A4CE94354562}"/>
    <dgm:cxn modelId="{F848ECC4-B261-4014-B076-C36E133C463A}" type="presOf" srcId="{35D72656-6A92-4362-B8EC-F5EC44AF7940}" destId="{7253B150-42E2-46F3-B33F-3D822D4A0664}" srcOrd="0" destOrd="0" presId="urn:microsoft.com/office/officeart/2018/2/layout/IconVerticalSolidList"/>
    <dgm:cxn modelId="{2CC1F4C5-30A3-47F6-8F0D-5C26891B53E7}" type="presOf" srcId="{C76E31F9-7F1F-4EE5-8012-AFBCBB722161}" destId="{D52042BD-C0A7-43BB-967E-DE0A1D60F3A0}" srcOrd="0" destOrd="0" presId="urn:microsoft.com/office/officeart/2018/2/layout/IconVerticalSolidList"/>
    <dgm:cxn modelId="{EABE4CC7-BC5D-4525-BD53-106E292592F9}" type="presOf" srcId="{ECD39D7D-3F97-41EE-A488-551E89FECC27}" destId="{3BA74CAF-67F8-4FE0-831B-A1371435280C}" srcOrd="0" destOrd="0" presId="urn:microsoft.com/office/officeart/2018/2/layout/IconVerticalSolidList"/>
    <dgm:cxn modelId="{0657C4E3-EB4E-4D49-9B56-BF0542DD77EE}" srcId="{9A421337-95D6-4485-8D4C-32779234330E}" destId="{CF3A8D9D-0B22-4282-ADAD-1A84948C047C}" srcOrd="3" destOrd="0" parTransId="{DCC931AF-D088-4C7A-A0C0-D73387AD77CC}" sibTransId="{00E31383-3780-47D7-93EE-E410F5BF5819}"/>
    <dgm:cxn modelId="{E81B3116-7830-4789-A85E-97B9BAC12A80}" type="presParOf" srcId="{51E2501F-FE4D-4D0D-91B3-FABE74B4A285}" destId="{52DF1F13-6767-4250-9F0C-56F787DD5EF4}" srcOrd="0" destOrd="0" presId="urn:microsoft.com/office/officeart/2018/2/layout/IconVerticalSolidList"/>
    <dgm:cxn modelId="{F0945353-1250-4B60-B491-6A61110222CC}" type="presParOf" srcId="{52DF1F13-6767-4250-9F0C-56F787DD5EF4}" destId="{348B4855-7ABA-4076-9381-B78D48C24709}" srcOrd="0" destOrd="0" presId="urn:microsoft.com/office/officeart/2018/2/layout/IconVerticalSolidList"/>
    <dgm:cxn modelId="{6CCAA551-812A-44A2-B844-369F587EA104}" type="presParOf" srcId="{52DF1F13-6767-4250-9F0C-56F787DD5EF4}" destId="{FF0CDB81-F199-4583-B9CE-AF0E075F99B7}" srcOrd="1" destOrd="0" presId="urn:microsoft.com/office/officeart/2018/2/layout/IconVerticalSolidList"/>
    <dgm:cxn modelId="{ED025D6E-8A78-4CBB-950C-480CE00B6821}" type="presParOf" srcId="{52DF1F13-6767-4250-9F0C-56F787DD5EF4}" destId="{BD48B889-E150-425F-8C02-28639DC14B75}" srcOrd="2" destOrd="0" presId="urn:microsoft.com/office/officeart/2018/2/layout/IconVerticalSolidList"/>
    <dgm:cxn modelId="{D35EA691-AED2-4EEC-86D7-2EDE1ABA3033}" type="presParOf" srcId="{52DF1F13-6767-4250-9F0C-56F787DD5EF4}" destId="{3BA74CAF-67F8-4FE0-831B-A1371435280C}" srcOrd="3" destOrd="0" presId="urn:microsoft.com/office/officeart/2018/2/layout/IconVerticalSolidList"/>
    <dgm:cxn modelId="{0047C741-3735-47E4-A782-79E0564661FE}" type="presParOf" srcId="{51E2501F-FE4D-4D0D-91B3-FABE74B4A285}" destId="{95E26534-A17D-4C7F-807C-D6174CA75438}" srcOrd="1" destOrd="0" presId="urn:microsoft.com/office/officeart/2018/2/layout/IconVerticalSolidList"/>
    <dgm:cxn modelId="{66774C4F-FB7B-4556-A852-333F0710DB53}" type="presParOf" srcId="{51E2501F-FE4D-4D0D-91B3-FABE74B4A285}" destId="{AA06CF01-4DAA-4264-9E64-213E4519C382}" srcOrd="2" destOrd="0" presId="urn:microsoft.com/office/officeart/2018/2/layout/IconVerticalSolidList"/>
    <dgm:cxn modelId="{D791A2FF-30E1-4A6F-ABE5-9707914B236F}" type="presParOf" srcId="{AA06CF01-4DAA-4264-9E64-213E4519C382}" destId="{C1622F80-32F1-4A5B-AECC-919B46F39E7C}" srcOrd="0" destOrd="0" presId="urn:microsoft.com/office/officeart/2018/2/layout/IconVerticalSolidList"/>
    <dgm:cxn modelId="{117607AC-FFBC-4FD9-8A74-AB1FC23E6A2A}" type="presParOf" srcId="{AA06CF01-4DAA-4264-9E64-213E4519C382}" destId="{8B227D70-F744-4A8E-9B80-960200A55AAA}" srcOrd="1" destOrd="0" presId="urn:microsoft.com/office/officeart/2018/2/layout/IconVerticalSolidList"/>
    <dgm:cxn modelId="{63672F76-2C57-4271-8C36-C89B4C8B194F}" type="presParOf" srcId="{AA06CF01-4DAA-4264-9E64-213E4519C382}" destId="{B3B03DED-1D06-4FC9-8A2D-63160BC42D08}" srcOrd="2" destOrd="0" presId="urn:microsoft.com/office/officeart/2018/2/layout/IconVerticalSolidList"/>
    <dgm:cxn modelId="{0CF69379-F094-4D92-B18A-864948DF8692}" type="presParOf" srcId="{AA06CF01-4DAA-4264-9E64-213E4519C382}" destId="{7253B150-42E2-46F3-B33F-3D822D4A0664}" srcOrd="3" destOrd="0" presId="urn:microsoft.com/office/officeart/2018/2/layout/IconVerticalSolidList"/>
    <dgm:cxn modelId="{378A25B3-3BDD-40EB-B6B3-3E51AFFBD927}" type="presParOf" srcId="{51E2501F-FE4D-4D0D-91B3-FABE74B4A285}" destId="{09A06F60-C1B6-4166-B94A-B628BA0B4FE7}" srcOrd="3" destOrd="0" presId="urn:microsoft.com/office/officeart/2018/2/layout/IconVerticalSolidList"/>
    <dgm:cxn modelId="{037ED73B-1A76-4C68-B605-D7B71F1B9DB0}" type="presParOf" srcId="{51E2501F-FE4D-4D0D-91B3-FABE74B4A285}" destId="{BB7C435D-E1A6-4D12-9480-85212F698DED}" srcOrd="4" destOrd="0" presId="urn:microsoft.com/office/officeart/2018/2/layout/IconVerticalSolidList"/>
    <dgm:cxn modelId="{2B96B248-61BF-4DC7-84B3-E457F61391D7}" type="presParOf" srcId="{BB7C435D-E1A6-4D12-9480-85212F698DED}" destId="{7E7A805D-8F39-4398-B0E5-E236836203E0}" srcOrd="0" destOrd="0" presId="urn:microsoft.com/office/officeart/2018/2/layout/IconVerticalSolidList"/>
    <dgm:cxn modelId="{0540B32E-658A-4028-B591-6E065C9DE99A}" type="presParOf" srcId="{BB7C435D-E1A6-4D12-9480-85212F698DED}" destId="{BCE23736-31CB-449C-9571-FA22852B91C8}" srcOrd="1" destOrd="0" presId="urn:microsoft.com/office/officeart/2018/2/layout/IconVerticalSolidList"/>
    <dgm:cxn modelId="{FD9B0CEB-832A-4CEA-8937-8EBC7EA83FE8}" type="presParOf" srcId="{BB7C435D-E1A6-4D12-9480-85212F698DED}" destId="{C7B77BE0-68D1-4509-B357-F6FBA570EDD4}" srcOrd="2" destOrd="0" presId="urn:microsoft.com/office/officeart/2018/2/layout/IconVerticalSolidList"/>
    <dgm:cxn modelId="{B517D5DE-E276-4895-B4A9-198ECA1C439D}" type="presParOf" srcId="{BB7C435D-E1A6-4D12-9480-85212F698DED}" destId="{D52042BD-C0A7-43BB-967E-DE0A1D60F3A0}" srcOrd="3" destOrd="0" presId="urn:microsoft.com/office/officeart/2018/2/layout/IconVerticalSolidList"/>
    <dgm:cxn modelId="{77705AB7-C43C-48BD-AD10-7B5DA610486A}" type="presParOf" srcId="{51E2501F-FE4D-4D0D-91B3-FABE74B4A285}" destId="{97CABF9D-7621-4BFB-A748-0EE601A7A859}" srcOrd="5" destOrd="0" presId="urn:microsoft.com/office/officeart/2018/2/layout/IconVerticalSolidList"/>
    <dgm:cxn modelId="{424AD415-E291-42BF-AB46-6BC0DF37048F}" type="presParOf" srcId="{51E2501F-FE4D-4D0D-91B3-FABE74B4A285}" destId="{0511034C-9ECE-4980-9F7A-FE62276594F3}" srcOrd="6" destOrd="0" presId="urn:microsoft.com/office/officeart/2018/2/layout/IconVerticalSolidList"/>
    <dgm:cxn modelId="{7D89A45A-5A74-4777-8792-1F24AB92A22F}" type="presParOf" srcId="{0511034C-9ECE-4980-9F7A-FE62276594F3}" destId="{F49467EC-5B3F-40DC-B1C2-B2C140F078A6}" srcOrd="0" destOrd="0" presId="urn:microsoft.com/office/officeart/2018/2/layout/IconVerticalSolidList"/>
    <dgm:cxn modelId="{4D1E9786-A41C-4A66-961F-DD56461FB059}" type="presParOf" srcId="{0511034C-9ECE-4980-9F7A-FE62276594F3}" destId="{59456021-A3F1-4CF8-BE63-3CA366F3F70E}" srcOrd="1" destOrd="0" presId="urn:microsoft.com/office/officeart/2018/2/layout/IconVerticalSolidList"/>
    <dgm:cxn modelId="{9AB41169-8CEC-4BB0-A70F-ED9DBED9342F}" type="presParOf" srcId="{0511034C-9ECE-4980-9F7A-FE62276594F3}" destId="{9279EF75-58D3-489E-9E54-79C41D3B263C}" srcOrd="2" destOrd="0" presId="urn:microsoft.com/office/officeart/2018/2/layout/IconVerticalSolidList"/>
    <dgm:cxn modelId="{0DC143D8-1BF3-42A0-B557-27114D5D8C99}" type="presParOf" srcId="{0511034C-9ECE-4980-9F7A-FE62276594F3}" destId="{B7ABDFA8-3856-42FF-A12F-4343685D10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AC0ECD-6B2D-4FCF-9E72-06A2EDDEC196}" type="doc">
      <dgm:prSet loTypeId="urn:microsoft.com/office/officeart/2005/8/layout/matrix2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1F38897-4BDF-4EFD-9A13-6C2EF1102967}">
      <dgm:prSet/>
      <dgm:spPr/>
      <dgm:t>
        <a:bodyPr/>
        <a:lstStyle/>
        <a:p>
          <a:r>
            <a:rPr lang="en-GB" b="1"/>
            <a:t>Osnovni set kart:</a:t>
          </a:r>
          <a:r>
            <a:rPr lang="en-GB"/>
            <a:t> Fokus na uravnoteženem igranju brez "Pay-to-Win" elementov.</a:t>
          </a:r>
          <a:endParaRPr lang="en-US"/>
        </a:p>
      </dgm:t>
    </dgm:pt>
    <dgm:pt modelId="{62E5824F-FA28-4B43-B159-770438893791}" type="parTrans" cxnId="{1FEA10EC-B166-428C-A8DB-233957311939}">
      <dgm:prSet/>
      <dgm:spPr/>
      <dgm:t>
        <a:bodyPr/>
        <a:lstStyle/>
        <a:p>
          <a:endParaRPr lang="en-US"/>
        </a:p>
      </dgm:t>
    </dgm:pt>
    <dgm:pt modelId="{633DF248-BBEC-404F-8C2E-1B41483BE265}" type="sibTrans" cxnId="{1FEA10EC-B166-428C-A8DB-233957311939}">
      <dgm:prSet/>
      <dgm:spPr/>
      <dgm:t>
        <a:bodyPr/>
        <a:lstStyle/>
        <a:p>
          <a:endParaRPr lang="en-US"/>
        </a:p>
      </dgm:t>
    </dgm:pt>
    <dgm:pt modelId="{1685BDD9-B2F4-4943-A6BF-6DED0B9B44E4}">
      <dgm:prSet/>
      <dgm:spPr/>
      <dgm:t>
        <a:bodyPr/>
        <a:lstStyle/>
        <a:p>
          <a:r>
            <a:rPr lang="en-GB" b="1"/>
            <a:t>Matchmaking sistem:</a:t>
          </a:r>
          <a:r>
            <a:rPr lang="en-GB"/>
            <a:t> Hitro iskanje nasprotnika z enakim vložkom.</a:t>
          </a:r>
          <a:endParaRPr lang="en-US"/>
        </a:p>
      </dgm:t>
    </dgm:pt>
    <dgm:pt modelId="{BA154DF6-36BC-40AA-936B-7F521E7CC779}" type="parTrans" cxnId="{F04E8D05-9631-467E-8FB2-B8B81AFFD717}">
      <dgm:prSet/>
      <dgm:spPr/>
      <dgm:t>
        <a:bodyPr/>
        <a:lstStyle/>
        <a:p>
          <a:endParaRPr lang="en-US"/>
        </a:p>
      </dgm:t>
    </dgm:pt>
    <dgm:pt modelId="{59BC965E-01D8-4CB4-813D-BE50B4D41459}" type="sibTrans" cxnId="{F04E8D05-9631-467E-8FB2-B8B81AFFD717}">
      <dgm:prSet/>
      <dgm:spPr/>
      <dgm:t>
        <a:bodyPr/>
        <a:lstStyle/>
        <a:p>
          <a:endParaRPr lang="en-US"/>
        </a:p>
      </dgm:t>
    </dgm:pt>
    <dgm:pt modelId="{53480DF0-D71A-438B-AB56-7F920F5FA1E4}">
      <dgm:prSet/>
      <dgm:spPr/>
      <dgm:t>
        <a:bodyPr/>
        <a:lstStyle/>
        <a:p>
          <a:r>
            <a:rPr lang="en-GB" b="1"/>
            <a:t>Crypto Wallet Connect:</a:t>
          </a:r>
          <a:r>
            <a:rPr lang="en-GB"/>
            <a:t> Enostavna povezava digitalne denarnice.</a:t>
          </a:r>
          <a:endParaRPr lang="en-US"/>
        </a:p>
      </dgm:t>
    </dgm:pt>
    <dgm:pt modelId="{EF5E975A-7900-4A2B-8279-7EB2A9961BFA}" type="parTrans" cxnId="{1685B163-7179-4D43-AE20-CD08E8A38CAB}">
      <dgm:prSet/>
      <dgm:spPr/>
      <dgm:t>
        <a:bodyPr/>
        <a:lstStyle/>
        <a:p>
          <a:endParaRPr lang="en-US"/>
        </a:p>
      </dgm:t>
    </dgm:pt>
    <dgm:pt modelId="{3EE7B86C-661C-4FD8-ABEB-394888E34ECE}" type="sibTrans" cxnId="{1685B163-7179-4D43-AE20-CD08E8A38CAB}">
      <dgm:prSet/>
      <dgm:spPr/>
      <dgm:t>
        <a:bodyPr/>
        <a:lstStyle/>
        <a:p>
          <a:endParaRPr lang="en-US"/>
        </a:p>
      </dgm:t>
    </dgm:pt>
    <dgm:pt modelId="{B790F03A-CEB9-43B3-81AF-59A15B4BB36C}">
      <dgm:prSet/>
      <dgm:spPr/>
      <dgm:t>
        <a:bodyPr/>
        <a:lstStyle/>
        <a:p>
          <a:r>
            <a:rPr lang="en-GB" b="1"/>
            <a:t>Zakaj to?</a:t>
          </a:r>
          <a:r>
            <a:rPr lang="en-GB"/>
            <a:t> Ker želimo najprej dokazati, da sistem izplačil deluje brezhibno in da je igra poštena.</a:t>
          </a:r>
          <a:endParaRPr lang="en-US"/>
        </a:p>
      </dgm:t>
    </dgm:pt>
    <dgm:pt modelId="{BD456DAC-BB3B-423A-B902-1DA77B766598}" type="parTrans" cxnId="{6AB8D645-5B18-4968-ACBD-6689B8523DBE}">
      <dgm:prSet/>
      <dgm:spPr/>
      <dgm:t>
        <a:bodyPr/>
        <a:lstStyle/>
        <a:p>
          <a:endParaRPr lang="en-US"/>
        </a:p>
      </dgm:t>
    </dgm:pt>
    <dgm:pt modelId="{75E4628E-4155-4830-8805-937214F313A0}" type="sibTrans" cxnId="{6AB8D645-5B18-4968-ACBD-6689B8523DBE}">
      <dgm:prSet/>
      <dgm:spPr/>
      <dgm:t>
        <a:bodyPr/>
        <a:lstStyle/>
        <a:p>
          <a:endParaRPr lang="en-US"/>
        </a:p>
      </dgm:t>
    </dgm:pt>
    <dgm:pt modelId="{957F64DF-FA07-46BA-8656-F7A8075C1827}" type="pres">
      <dgm:prSet presAssocID="{55AC0ECD-6B2D-4FCF-9E72-06A2EDDEC196}" presName="matrix" presStyleCnt="0">
        <dgm:presLayoutVars>
          <dgm:chMax val="1"/>
          <dgm:dir/>
          <dgm:resizeHandles val="exact"/>
        </dgm:presLayoutVars>
      </dgm:prSet>
      <dgm:spPr/>
    </dgm:pt>
    <dgm:pt modelId="{7986C353-5E9A-465A-A693-0AD1D38D24C3}" type="pres">
      <dgm:prSet presAssocID="{55AC0ECD-6B2D-4FCF-9E72-06A2EDDEC196}" presName="axisShape" presStyleLbl="bgShp" presStyleIdx="0" presStyleCnt="1"/>
      <dgm:spPr/>
    </dgm:pt>
    <dgm:pt modelId="{45CEBEB6-777C-44FF-A459-62199158FA42}" type="pres">
      <dgm:prSet presAssocID="{55AC0ECD-6B2D-4FCF-9E72-06A2EDDEC196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D66DE47-E557-4986-B0CF-7DE3B9A92006}" type="pres">
      <dgm:prSet presAssocID="{55AC0ECD-6B2D-4FCF-9E72-06A2EDDEC196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475B33D-ABA1-497E-85FE-8D5FC2E73382}" type="pres">
      <dgm:prSet presAssocID="{55AC0ECD-6B2D-4FCF-9E72-06A2EDDEC196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41AB931-22DE-4636-A4C3-B1EB22254970}" type="pres">
      <dgm:prSet presAssocID="{55AC0ECD-6B2D-4FCF-9E72-06A2EDDEC196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04E8D05-9631-467E-8FB2-B8B81AFFD717}" srcId="{55AC0ECD-6B2D-4FCF-9E72-06A2EDDEC196}" destId="{1685BDD9-B2F4-4943-A6BF-6DED0B9B44E4}" srcOrd="1" destOrd="0" parTransId="{BA154DF6-36BC-40AA-936B-7F521E7CC779}" sibTransId="{59BC965E-01D8-4CB4-813D-BE50B4D41459}"/>
    <dgm:cxn modelId="{349F7811-40FF-49D4-9E6E-27C99B7A7078}" type="presOf" srcId="{D1F38897-4BDF-4EFD-9A13-6C2EF1102967}" destId="{45CEBEB6-777C-44FF-A459-62199158FA42}" srcOrd="0" destOrd="0" presId="urn:microsoft.com/office/officeart/2005/8/layout/matrix2"/>
    <dgm:cxn modelId="{8564AB1C-D75F-4057-934E-FBCFAE827C95}" type="presOf" srcId="{B790F03A-CEB9-43B3-81AF-59A15B4BB36C}" destId="{341AB931-22DE-4636-A4C3-B1EB22254970}" srcOrd="0" destOrd="0" presId="urn:microsoft.com/office/officeart/2005/8/layout/matrix2"/>
    <dgm:cxn modelId="{1685B163-7179-4D43-AE20-CD08E8A38CAB}" srcId="{55AC0ECD-6B2D-4FCF-9E72-06A2EDDEC196}" destId="{53480DF0-D71A-438B-AB56-7F920F5FA1E4}" srcOrd="2" destOrd="0" parTransId="{EF5E975A-7900-4A2B-8279-7EB2A9961BFA}" sibTransId="{3EE7B86C-661C-4FD8-ABEB-394888E34ECE}"/>
    <dgm:cxn modelId="{6AB8D645-5B18-4968-ACBD-6689B8523DBE}" srcId="{55AC0ECD-6B2D-4FCF-9E72-06A2EDDEC196}" destId="{B790F03A-CEB9-43B3-81AF-59A15B4BB36C}" srcOrd="3" destOrd="0" parTransId="{BD456DAC-BB3B-423A-B902-1DA77B766598}" sibTransId="{75E4628E-4155-4830-8805-937214F313A0}"/>
    <dgm:cxn modelId="{7129586C-684D-428E-A302-BDD2783433F0}" type="presOf" srcId="{1685BDD9-B2F4-4943-A6BF-6DED0B9B44E4}" destId="{CD66DE47-E557-4986-B0CF-7DE3B9A92006}" srcOrd="0" destOrd="0" presId="urn:microsoft.com/office/officeart/2005/8/layout/matrix2"/>
    <dgm:cxn modelId="{A26E166E-4AA3-4E6E-AC22-EFB4F48E31F2}" type="presOf" srcId="{55AC0ECD-6B2D-4FCF-9E72-06A2EDDEC196}" destId="{957F64DF-FA07-46BA-8656-F7A8075C1827}" srcOrd="0" destOrd="0" presId="urn:microsoft.com/office/officeart/2005/8/layout/matrix2"/>
    <dgm:cxn modelId="{D73BD9A1-26DD-4420-B2C3-808C054028A3}" type="presOf" srcId="{53480DF0-D71A-438B-AB56-7F920F5FA1E4}" destId="{E475B33D-ABA1-497E-85FE-8D5FC2E73382}" srcOrd="0" destOrd="0" presId="urn:microsoft.com/office/officeart/2005/8/layout/matrix2"/>
    <dgm:cxn modelId="{1FEA10EC-B166-428C-A8DB-233957311939}" srcId="{55AC0ECD-6B2D-4FCF-9E72-06A2EDDEC196}" destId="{D1F38897-4BDF-4EFD-9A13-6C2EF1102967}" srcOrd="0" destOrd="0" parTransId="{62E5824F-FA28-4B43-B159-770438893791}" sibTransId="{633DF248-BBEC-404F-8C2E-1B41483BE265}"/>
    <dgm:cxn modelId="{F6B3E62D-A873-4428-BA26-FB731CDC8807}" type="presParOf" srcId="{957F64DF-FA07-46BA-8656-F7A8075C1827}" destId="{7986C353-5E9A-465A-A693-0AD1D38D24C3}" srcOrd="0" destOrd="0" presId="urn:microsoft.com/office/officeart/2005/8/layout/matrix2"/>
    <dgm:cxn modelId="{50EAA3B9-D36C-49C4-A9D4-9A02F31F8ED1}" type="presParOf" srcId="{957F64DF-FA07-46BA-8656-F7A8075C1827}" destId="{45CEBEB6-777C-44FF-A459-62199158FA42}" srcOrd="1" destOrd="0" presId="urn:microsoft.com/office/officeart/2005/8/layout/matrix2"/>
    <dgm:cxn modelId="{836E4688-4F7D-434F-87A6-FD9823B64BB4}" type="presParOf" srcId="{957F64DF-FA07-46BA-8656-F7A8075C1827}" destId="{CD66DE47-E557-4986-B0CF-7DE3B9A92006}" srcOrd="2" destOrd="0" presId="urn:microsoft.com/office/officeart/2005/8/layout/matrix2"/>
    <dgm:cxn modelId="{FC4251EE-9D8B-4702-A68E-3325CC838E05}" type="presParOf" srcId="{957F64DF-FA07-46BA-8656-F7A8075C1827}" destId="{E475B33D-ABA1-497E-85FE-8D5FC2E73382}" srcOrd="3" destOrd="0" presId="urn:microsoft.com/office/officeart/2005/8/layout/matrix2"/>
    <dgm:cxn modelId="{A5CD9E15-1D50-45DF-9052-B7C6A054511A}" type="presParOf" srcId="{957F64DF-FA07-46BA-8656-F7A8075C1827}" destId="{341AB931-22DE-4636-A4C3-B1EB22254970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3BC981-B290-4ECD-946A-079F3020F90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6B11D31-B305-48DB-BE6B-E1E606D16C26}">
      <dgm:prSet/>
      <dgm:spPr/>
      <dgm:t>
        <a:bodyPr/>
        <a:lstStyle/>
        <a:p>
          <a:r>
            <a:rPr lang="en-GB" b="1"/>
            <a:t>Ciljni trg:</a:t>
          </a:r>
          <a:r>
            <a:rPr lang="en-GB"/>
            <a:t> Mladi gejmerji (18–35 let), ki so že domači v kripto svetu, in "casual" stavničarji, ki iščejo alternativo kazinoju.</a:t>
          </a:r>
          <a:endParaRPr lang="en-US"/>
        </a:p>
      </dgm:t>
    </dgm:pt>
    <dgm:pt modelId="{373C75A3-CDA8-454E-AE4D-9E6BEBF5315F}" type="parTrans" cxnId="{8E9EA84F-C882-476E-ABB9-D6DFCD37A222}">
      <dgm:prSet/>
      <dgm:spPr/>
      <dgm:t>
        <a:bodyPr/>
        <a:lstStyle/>
        <a:p>
          <a:endParaRPr lang="en-US"/>
        </a:p>
      </dgm:t>
    </dgm:pt>
    <dgm:pt modelId="{AC583E0C-10FF-4F58-A17E-BD599135E7A7}" type="sibTrans" cxnId="{8E9EA84F-C882-476E-ABB9-D6DFCD37A222}">
      <dgm:prSet/>
      <dgm:spPr/>
      <dgm:t>
        <a:bodyPr/>
        <a:lstStyle/>
        <a:p>
          <a:endParaRPr lang="en-US"/>
        </a:p>
      </dgm:t>
    </dgm:pt>
    <dgm:pt modelId="{45CD3911-BA33-4FB1-A590-137E60335BF0}">
      <dgm:prSet/>
      <dgm:spPr/>
      <dgm:t>
        <a:bodyPr/>
        <a:lstStyle/>
        <a:p>
          <a:r>
            <a:rPr lang="en-GB" b="1"/>
            <a:t>Konkurenca:</a:t>
          </a:r>
          <a:r>
            <a:rPr lang="en-GB"/>
            <a:t> </a:t>
          </a:r>
          <a:r>
            <a:rPr lang="en-GB" i="1"/>
            <a:t>Crypto Snake</a:t>
          </a:r>
          <a:r>
            <a:rPr lang="en-GB"/>
            <a:t> (uspešen model "Slither.io" na blockchainu). Naš projekt gre korak dlje z globino kartaške strategije (podobno kot Hearthstone, a za denar).</a:t>
          </a:r>
          <a:endParaRPr lang="en-US"/>
        </a:p>
      </dgm:t>
    </dgm:pt>
    <dgm:pt modelId="{8B9463B2-C6D7-4673-B09D-0171E2440557}" type="parTrans" cxnId="{3633842F-910D-4B8E-B64E-4798E4C3D106}">
      <dgm:prSet/>
      <dgm:spPr/>
      <dgm:t>
        <a:bodyPr/>
        <a:lstStyle/>
        <a:p>
          <a:endParaRPr lang="en-US"/>
        </a:p>
      </dgm:t>
    </dgm:pt>
    <dgm:pt modelId="{6273A3E7-1BCD-4923-A338-89E075A8FC53}" type="sibTrans" cxnId="{3633842F-910D-4B8E-B64E-4798E4C3D106}">
      <dgm:prSet/>
      <dgm:spPr/>
      <dgm:t>
        <a:bodyPr/>
        <a:lstStyle/>
        <a:p>
          <a:endParaRPr lang="en-US"/>
        </a:p>
      </dgm:t>
    </dgm:pt>
    <dgm:pt modelId="{BAA53B12-D174-4F0B-A2F2-531C4BFD4E2A}">
      <dgm:prSet/>
      <dgm:spPr/>
      <dgm:t>
        <a:bodyPr/>
        <a:lstStyle/>
        <a:p>
          <a:r>
            <a:rPr lang="en-GB" b="1"/>
            <a:t>Poslovni model:</a:t>
          </a:r>
          <a:r>
            <a:rPr lang="en-GB"/>
            <a:t> Podjetje vzame </a:t>
          </a:r>
          <a:r>
            <a:rPr lang="en-GB" b="1"/>
            <a:t>5 % provizije</a:t>
          </a:r>
          <a:r>
            <a:rPr lang="en-GB"/>
            <a:t> od vsake igre (rake).</a:t>
          </a:r>
          <a:endParaRPr lang="en-US"/>
        </a:p>
      </dgm:t>
    </dgm:pt>
    <dgm:pt modelId="{683D9ACA-402D-48AF-A9F0-63237F6FD7E2}" type="parTrans" cxnId="{DDD1B36A-A7CC-4749-B272-3432FA727492}">
      <dgm:prSet/>
      <dgm:spPr/>
      <dgm:t>
        <a:bodyPr/>
        <a:lstStyle/>
        <a:p>
          <a:endParaRPr lang="en-US"/>
        </a:p>
      </dgm:t>
    </dgm:pt>
    <dgm:pt modelId="{048609A1-25A9-4767-9A47-F0C95F788173}" type="sibTrans" cxnId="{DDD1B36A-A7CC-4749-B272-3432FA727492}">
      <dgm:prSet/>
      <dgm:spPr/>
      <dgm:t>
        <a:bodyPr/>
        <a:lstStyle/>
        <a:p>
          <a:endParaRPr lang="en-US"/>
        </a:p>
      </dgm:t>
    </dgm:pt>
    <dgm:pt modelId="{2F924DF4-821F-4EAB-920C-01CD9093FEB3}">
      <dgm:prSet/>
      <dgm:spPr/>
      <dgm:t>
        <a:bodyPr/>
        <a:lstStyle/>
        <a:p>
          <a:r>
            <a:rPr lang="en-GB"/>
            <a:t>Primer: Če je skupni sklad 20 USDT, zmagovalec dobi 19,5 USDT (1,95x vložka), 0,5 USDT pa gre za razvoj platforme.</a:t>
          </a:r>
          <a:endParaRPr lang="en-US"/>
        </a:p>
      </dgm:t>
    </dgm:pt>
    <dgm:pt modelId="{AEA1F3AA-4B0F-4E93-853F-0ECCE774F595}" type="parTrans" cxnId="{E0A69444-B6E6-474E-992D-53215C63DC34}">
      <dgm:prSet/>
      <dgm:spPr/>
      <dgm:t>
        <a:bodyPr/>
        <a:lstStyle/>
        <a:p>
          <a:endParaRPr lang="en-US"/>
        </a:p>
      </dgm:t>
    </dgm:pt>
    <dgm:pt modelId="{66BE6BE4-2041-478A-8E1E-7E4E5A438A86}" type="sibTrans" cxnId="{E0A69444-B6E6-474E-992D-53215C63DC34}">
      <dgm:prSet/>
      <dgm:spPr/>
      <dgm:t>
        <a:bodyPr/>
        <a:lstStyle/>
        <a:p>
          <a:endParaRPr lang="en-US"/>
        </a:p>
      </dgm:t>
    </dgm:pt>
    <dgm:pt modelId="{67ACBE37-6883-4916-95F6-AC586305D2EB}" type="pres">
      <dgm:prSet presAssocID="{123BC981-B290-4ECD-946A-079F3020F905}" presName="linear" presStyleCnt="0">
        <dgm:presLayoutVars>
          <dgm:animLvl val="lvl"/>
          <dgm:resizeHandles val="exact"/>
        </dgm:presLayoutVars>
      </dgm:prSet>
      <dgm:spPr/>
    </dgm:pt>
    <dgm:pt modelId="{D3C7E6AC-6F4E-4E6A-BE89-32123087F046}" type="pres">
      <dgm:prSet presAssocID="{96B11D31-B305-48DB-BE6B-E1E606D16C2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B5C2EDE-52BC-435C-B94C-CAD4512506FD}" type="pres">
      <dgm:prSet presAssocID="{AC583E0C-10FF-4F58-A17E-BD599135E7A7}" presName="spacer" presStyleCnt="0"/>
      <dgm:spPr/>
    </dgm:pt>
    <dgm:pt modelId="{92F59B66-7BBD-4451-A14D-4F79307A7891}" type="pres">
      <dgm:prSet presAssocID="{45CD3911-BA33-4FB1-A590-137E60335BF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E62B384-65F9-483B-A469-0E099BCD5F78}" type="pres">
      <dgm:prSet presAssocID="{6273A3E7-1BCD-4923-A338-89E075A8FC53}" presName="spacer" presStyleCnt="0"/>
      <dgm:spPr/>
    </dgm:pt>
    <dgm:pt modelId="{F448A7C0-0121-498F-8249-A24EF5513DE6}" type="pres">
      <dgm:prSet presAssocID="{BAA53B12-D174-4F0B-A2F2-531C4BFD4E2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27A2526-B603-4DDB-848B-7B2A3CE1DF19}" type="pres">
      <dgm:prSet presAssocID="{048609A1-25A9-4767-9A47-F0C95F788173}" presName="spacer" presStyleCnt="0"/>
      <dgm:spPr/>
    </dgm:pt>
    <dgm:pt modelId="{4F622DDC-5D26-489D-BAFD-A1C984214721}" type="pres">
      <dgm:prSet presAssocID="{2F924DF4-821F-4EAB-920C-01CD9093FEB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140A902-C962-4106-9267-E641B999D434}" type="presOf" srcId="{123BC981-B290-4ECD-946A-079F3020F905}" destId="{67ACBE37-6883-4916-95F6-AC586305D2EB}" srcOrd="0" destOrd="0" presId="urn:microsoft.com/office/officeart/2005/8/layout/vList2"/>
    <dgm:cxn modelId="{3633842F-910D-4B8E-B64E-4798E4C3D106}" srcId="{123BC981-B290-4ECD-946A-079F3020F905}" destId="{45CD3911-BA33-4FB1-A590-137E60335BF0}" srcOrd="1" destOrd="0" parTransId="{8B9463B2-C6D7-4673-B09D-0171E2440557}" sibTransId="{6273A3E7-1BCD-4923-A338-89E075A8FC53}"/>
    <dgm:cxn modelId="{91F73F40-F8A9-4D88-8DD7-4C668513BFFC}" type="presOf" srcId="{2F924DF4-821F-4EAB-920C-01CD9093FEB3}" destId="{4F622DDC-5D26-489D-BAFD-A1C984214721}" srcOrd="0" destOrd="0" presId="urn:microsoft.com/office/officeart/2005/8/layout/vList2"/>
    <dgm:cxn modelId="{E0A69444-B6E6-474E-992D-53215C63DC34}" srcId="{123BC981-B290-4ECD-946A-079F3020F905}" destId="{2F924DF4-821F-4EAB-920C-01CD9093FEB3}" srcOrd="3" destOrd="0" parTransId="{AEA1F3AA-4B0F-4E93-853F-0ECCE774F595}" sibTransId="{66BE6BE4-2041-478A-8E1E-7E4E5A438A86}"/>
    <dgm:cxn modelId="{DDD1B36A-A7CC-4749-B272-3432FA727492}" srcId="{123BC981-B290-4ECD-946A-079F3020F905}" destId="{BAA53B12-D174-4F0B-A2F2-531C4BFD4E2A}" srcOrd="2" destOrd="0" parTransId="{683D9ACA-402D-48AF-A9F0-63237F6FD7E2}" sibTransId="{048609A1-25A9-4767-9A47-F0C95F788173}"/>
    <dgm:cxn modelId="{8E9EA84F-C882-476E-ABB9-D6DFCD37A222}" srcId="{123BC981-B290-4ECD-946A-079F3020F905}" destId="{96B11D31-B305-48DB-BE6B-E1E606D16C26}" srcOrd="0" destOrd="0" parTransId="{373C75A3-CDA8-454E-AE4D-9E6BEBF5315F}" sibTransId="{AC583E0C-10FF-4F58-A17E-BD599135E7A7}"/>
    <dgm:cxn modelId="{F5FA4B95-94EE-44B8-A48D-1942EF14850B}" type="presOf" srcId="{45CD3911-BA33-4FB1-A590-137E60335BF0}" destId="{92F59B66-7BBD-4451-A14D-4F79307A7891}" srcOrd="0" destOrd="0" presId="urn:microsoft.com/office/officeart/2005/8/layout/vList2"/>
    <dgm:cxn modelId="{C2396ECF-BDA4-47DA-BA0E-1C05723C9E50}" type="presOf" srcId="{BAA53B12-D174-4F0B-A2F2-531C4BFD4E2A}" destId="{F448A7C0-0121-498F-8249-A24EF5513DE6}" srcOrd="0" destOrd="0" presId="urn:microsoft.com/office/officeart/2005/8/layout/vList2"/>
    <dgm:cxn modelId="{74BE02E3-C6F9-4957-A6D6-E0B47A5AD24B}" type="presOf" srcId="{96B11D31-B305-48DB-BE6B-E1E606D16C26}" destId="{D3C7E6AC-6F4E-4E6A-BE89-32123087F046}" srcOrd="0" destOrd="0" presId="urn:microsoft.com/office/officeart/2005/8/layout/vList2"/>
    <dgm:cxn modelId="{317DF9FF-5C7E-4FC4-A639-F4EBFC53004C}" type="presParOf" srcId="{67ACBE37-6883-4916-95F6-AC586305D2EB}" destId="{D3C7E6AC-6F4E-4E6A-BE89-32123087F046}" srcOrd="0" destOrd="0" presId="urn:microsoft.com/office/officeart/2005/8/layout/vList2"/>
    <dgm:cxn modelId="{F53D47F1-46FB-4440-A9B2-3BEE7CC678D0}" type="presParOf" srcId="{67ACBE37-6883-4916-95F6-AC586305D2EB}" destId="{8B5C2EDE-52BC-435C-B94C-CAD4512506FD}" srcOrd="1" destOrd="0" presId="urn:microsoft.com/office/officeart/2005/8/layout/vList2"/>
    <dgm:cxn modelId="{A83973E8-684A-46AE-BC8E-EFBE39E65A4B}" type="presParOf" srcId="{67ACBE37-6883-4916-95F6-AC586305D2EB}" destId="{92F59B66-7BBD-4451-A14D-4F79307A7891}" srcOrd="2" destOrd="0" presId="urn:microsoft.com/office/officeart/2005/8/layout/vList2"/>
    <dgm:cxn modelId="{41D2B03D-163E-4BFC-A4FA-B0BB57105F75}" type="presParOf" srcId="{67ACBE37-6883-4916-95F6-AC586305D2EB}" destId="{6E62B384-65F9-483B-A469-0E099BCD5F78}" srcOrd="3" destOrd="0" presId="urn:microsoft.com/office/officeart/2005/8/layout/vList2"/>
    <dgm:cxn modelId="{DD447C53-CC34-401F-A8B0-131291673B12}" type="presParOf" srcId="{67ACBE37-6883-4916-95F6-AC586305D2EB}" destId="{F448A7C0-0121-498F-8249-A24EF5513DE6}" srcOrd="4" destOrd="0" presId="urn:microsoft.com/office/officeart/2005/8/layout/vList2"/>
    <dgm:cxn modelId="{486E8F00-196D-4D83-B1C4-ACE017DF7843}" type="presParOf" srcId="{67ACBE37-6883-4916-95F6-AC586305D2EB}" destId="{027A2526-B603-4DDB-848B-7B2A3CE1DF19}" srcOrd="5" destOrd="0" presId="urn:microsoft.com/office/officeart/2005/8/layout/vList2"/>
    <dgm:cxn modelId="{F97F3B95-A3BD-45AD-9019-4446BA57E17C}" type="presParOf" srcId="{67ACBE37-6883-4916-95F6-AC586305D2EB}" destId="{4F622DDC-5D26-489D-BAFD-A1C98421472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58E8BF-B12C-43EC-82CB-BED0740502C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9862559-1570-49F4-9764-A22C7C12F28E}">
      <dgm:prSet/>
      <dgm:spPr/>
      <dgm:t>
        <a:bodyPr/>
        <a:lstStyle/>
        <a:p>
          <a:r>
            <a:rPr lang="en-GB" b="1"/>
            <a:t>Povzetek:</a:t>
          </a:r>
          <a:r>
            <a:rPr lang="en-GB"/>
            <a:t> CryptoCards spreminja igranje kart iz hobija v priložnost za zaslužek.</a:t>
          </a:r>
          <a:endParaRPr lang="en-US"/>
        </a:p>
      </dgm:t>
    </dgm:pt>
    <dgm:pt modelId="{7F764092-D687-4D9B-8DC7-6E45179FF1F4}" type="parTrans" cxnId="{ADF388C3-FADC-4F67-B335-85DB463C4B80}">
      <dgm:prSet/>
      <dgm:spPr/>
      <dgm:t>
        <a:bodyPr/>
        <a:lstStyle/>
        <a:p>
          <a:endParaRPr lang="en-US"/>
        </a:p>
      </dgm:t>
    </dgm:pt>
    <dgm:pt modelId="{678E439E-CB3A-4F76-97B6-A6E5A3B798E5}" type="sibTrans" cxnId="{ADF388C3-FADC-4F67-B335-85DB463C4B80}">
      <dgm:prSet/>
      <dgm:spPr/>
      <dgm:t>
        <a:bodyPr/>
        <a:lstStyle/>
        <a:p>
          <a:endParaRPr lang="en-US"/>
        </a:p>
      </dgm:t>
    </dgm:pt>
    <dgm:pt modelId="{B9CEC8B4-871F-4CD0-9F40-BDF42E6ED171}">
      <dgm:prSet/>
      <dgm:spPr/>
      <dgm:t>
        <a:bodyPr/>
        <a:lstStyle/>
        <a:p>
          <a:r>
            <a:rPr lang="en-GB" b="1"/>
            <a:t>Glavni adut:</a:t>
          </a:r>
          <a:r>
            <a:rPr lang="en-GB"/>
            <a:t> Znanje &gt; Sreča.</a:t>
          </a:r>
          <a:endParaRPr lang="en-US"/>
        </a:p>
      </dgm:t>
    </dgm:pt>
    <dgm:pt modelId="{48E492D9-D547-4BF9-975C-C5010E027756}" type="parTrans" cxnId="{0E6DD57B-5584-4114-AA8E-FC22FB495FB0}">
      <dgm:prSet/>
      <dgm:spPr/>
      <dgm:t>
        <a:bodyPr/>
        <a:lstStyle/>
        <a:p>
          <a:endParaRPr lang="en-US"/>
        </a:p>
      </dgm:t>
    </dgm:pt>
    <dgm:pt modelId="{D63BB67B-6340-40C0-B2E8-FAF14EAC6A67}" type="sibTrans" cxnId="{0E6DD57B-5584-4114-AA8E-FC22FB495FB0}">
      <dgm:prSet/>
      <dgm:spPr/>
      <dgm:t>
        <a:bodyPr/>
        <a:lstStyle/>
        <a:p>
          <a:endParaRPr lang="en-US"/>
        </a:p>
      </dgm:t>
    </dgm:pt>
    <dgm:pt modelId="{85D7429A-B4D8-49E3-8E7C-77778DBC5189}">
      <dgm:prSet/>
      <dgm:spPr/>
      <dgm:t>
        <a:bodyPr/>
        <a:lstStyle/>
        <a:p>
          <a:r>
            <a:rPr lang="sl-SI" b="1"/>
            <a:t>Naslednji koraki: </a:t>
          </a:r>
          <a:r>
            <a:rPr lang="sl-SI"/>
            <a:t>Razvoj mobilne aplikacije in turnirski način z večjimi nagradnimi skladi.</a:t>
          </a:r>
          <a:endParaRPr lang="en-US"/>
        </a:p>
      </dgm:t>
    </dgm:pt>
    <dgm:pt modelId="{9DFA778D-032D-4EB8-BDFD-067BCCB1EB95}" type="parTrans" cxnId="{477F175E-53CC-4BF0-A1F7-E34C9F97D5B4}">
      <dgm:prSet/>
      <dgm:spPr/>
      <dgm:t>
        <a:bodyPr/>
        <a:lstStyle/>
        <a:p>
          <a:endParaRPr lang="en-US"/>
        </a:p>
      </dgm:t>
    </dgm:pt>
    <dgm:pt modelId="{B1819306-0A13-4405-BA37-B4BB6219BFB4}" type="sibTrans" cxnId="{477F175E-53CC-4BF0-A1F7-E34C9F97D5B4}">
      <dgm:prSet/>
      <dgm:spPr/>
      <dgm:t>
        <a:bodyPr/>
        <a:lstStyle/>
        <a:p>
          <a:endParaRPr lang="en-US"/>
        </a:p>
      </dgm:t>
    </dgm:pt>
    <dgm:pt modelId="{1965749B-8DF2-4E61-B27C-DC64ADF342D5}">
      <dgm:prSet/>
      <dgm:spPr/>
      <dgm:t>
        <a:bodyPr/>
        <a:lstStyle/>
        <a:p>
          <a:r>
            <a:rPr lang="en-GB" b="1"/>
            <a:t>Poziv k akciji:</a:t>
          </a:r>
          <a:r>
            <a:rPr lang="en-GB"/>
            <a:t> "Ne zapravljaj časa, začni igrati pametno."</a:t>
          </a:r>
          <a:endParaRPr lang="en-US"/>
        </a:p>
      </dgm:t>
    </dgm:pt>
    <dgm:pt modelId="{8704BC8A-E997-40EC-B473-3B849FDE4456}" type="parTrans" cxnId="{F839BFFA-988E-4839-BE4F-CF47F03172AA}">
      <dgm:prSet/>
      <dgm:spPr/>
      <dgm:t>
        <a:bodyPr/>
        <a:lstStyle/>
        <a:p>
          <a:endParaRPr lang="en-US"/>
        </a:p>
      </dgm:t>
    </dgm:pt>
    <dgm:pt modelId="{130998C4-73AD-4685-BAA8-391F50D3DEBA}" type="sibTrans" cxnId="{F839BFFA-988E-4839-BE4F-CF47F03172AA}">
      <dgm:prSet/>
      <dgm:spPr/>
      <dgm:t>
        <a:bodyPr/>
        <a:lstStyle/>
        <a:p>
          <a:endParaRPr lang="en-US"/>
        </a:p>
      </dgm:t>
    </dgm:pt>
    <dgm:pt modelId="{66421F06-DE67-464E-975B-138C882CB925}" type="pres">
      <dgm:prSet presAssocID="{1958E8BF-B12C-43EC-82CB-BED0740502C6}" presName="linear" presStyleCnt="0">
        <dgm:presLayoutVars>
          <dgm:animLvl val="lvl"/>
          <dgm:resizeHandles val="exact"/>
        </dgm:presLayoutVars>
      </dgm:prSet>
      <dgm:spPr/>
    </dgm:pt>
    <dgm:pt modelId="{D6D1FEE5-B199-4980-96A0-B74B5AD62ED6}" type="pres">
      <dgm:prSet presAssocID="{E9862559-1570-49F4-9764-A22C7C12F28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8F2CA65-0165-4E66-B75F-E7337C6FF5DB}" type="pres">
      <dgm:prSet presAssocID="{678E439E-CB3A-4F76-97B6-A6E5A3B798E5}" presName="spacer" presStyleCnt="0"/>
      <dgm:spPr/>
    </dgm:pt>
    <dgm:pt modelId="{91A16893-7BEF-4319-BE92-014938E37BE8}" type="pres">
      <dgm:prSet presAssocID="{B9CEC8B4-871F-4CD0-9F40-BDF42E6ED17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F1F944-4229-4890-B519-53ED525436D3}" type="pres">
      <dgm:prSet presAssocID="{D63BB67B-6340-40C0-B2E8-FAF14EAC6A67}" presName="spacer" presStyleCnt="0"/>
      <dgm:spPr/>
    </dgm:pt>
    <dgm:pt modelId="{E1C478B0-BDEA-4F1B-8A6E-1709A954AB69}" type="pres">
      <dgm:prSet presAssocID="{85D7429A-B4D8-49E3-8E7C-77778DBC518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0A8912-AF64-40F2-8CE2-BBE7AA3EB5D8}" type="pres">
      <dgm:prSet presAssocID="{B1819306-0A13-4405-BA37-B4BB6219BFB4}" presName="spacer" presStyleCnt="0"/>
      <dgm:spPr/>
    </dgm:pt>
    <dgm:pt modelId="{FA2B1436-0EC5-4B70-A78D-805EC918E4BB}" type="pres">
      <dgm:prSet presAssocID="{1965749B-8DF2-4E61-B27C-DC64ADF342D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77F175E-53CC-4BF0-A1F7-E34C9F97D5B4}" srcId="{1958E8BF-B12C-43EC-82CB-BED0740502C6}" destId="{85D7429A-B4D8-49E3-8E7C-77778DBC5189}" srcOrd="2" destOrd="0" parTransId="{9DFA778D-032D-4EB8-BDFD-067BCCB1EB95}" sibTransId="{B1819306-0A13-4405-BA37-B4BB6219BFB4}"/>
    <dgm:cxn modelId="{0E6DD57B-5584-4114-AA8E-FC22FB495FB0}" srcId="{1958E8BF-B12C-43EC-82CB-BED0740502C6}" destId="{B9CEC8B4-871F-4CD0-9F40-BDF42E6ED171}" srcOrd="1" destOrd="0" parTransId="{48E492D9-D547-4BF9-975C-C5010E027756}" sibTransId="{D63BB67B-6340-40C0-B2E8-FAF14EAC6A67}"/>
    <dgm:cxn modelId="{4E936A8D-6753-4E21-9682-1A9F49D2EE14}" type="presOf" srcId="{1965749B-8DF2-4E61-B27C-DC64ADF342D5}" destId="{FA2B1436-0EC5-4B70-A78D-805EC918E4BB}" srcOrd="0" destOrd="0" presId="urn:microsoft.com/office/officeart/2005/8/layout/vList2"/>
    <dgm:cxn modelId="{7C29F0AD-2DF8-49E7-BF82-2CA6A5F399D1}" type="presOf" srcId="{1958E8BF-B12C-43EC-82CB-BED0740502C6}" destId="{66421F06-DE67-464E-975B-138C882CB925}" srcOrd="0" destOrd="0" presId="urn:microsoft.com/office/officeart/2005/8/layout/vList2"/>
    <dgm:cxn modelId="{ADF388C3-FADC-4F67-B335-85DB463C4B80}" srcId="{1958E8BF-B12C-43EC-82CB-BED0740502C6}" destId="{E9862559-1570-49F4-9764-A22C7C12F28E}" srcOrd="0" destOrd="0" parTransId="{7F764092-D687-4D9B-8DC7-6E45179FF1F4}" sibTransId="{678E439E-CB3A-4F76-97B6-A6E5A3B798E5}"/>
    <dgm:cxn modelId="{B07B3CC4-A281-443E-917A-077FC3FA767F}" type="presOf" srcId="{B9CEC8B4-871F-4CD0-9F40-BDF42E6ED171}" destId="{91A16893-7BEF-4319-BE92-014938E37BE8}" srcOrd="0" destOrd="0" presId="urn:microsoft.com/office/officeart/2005/8/layout/vList2"/>
    <dgm:cxn modelId="{EA8852C6-756F-4327-A71B-26A3395E0FFC}" type="presOf" srcId="{E9862559-1570-49F4-9764-A22C7C12F28E}" destId="{D6D1FEE5-B199-4980-96A0-B74B5AD62ED6}" srcOrd="0" destOrd="0" presId="urn:microsoft.com/office/officeart/2005/8/layout/vList2"/>
    <dgm:cxn modelId="{6E00AEDF-55F6-4483-840F-52D5F6C78D8F}" type="presOf" srcId="{85D7429A-B4D8-49E3-8E7C-77778DBC5189}" destId="{E1C478B0-BDEA-4F1B-8A6E-1709A954AB69}" srcOrd="0" destOrd="0" presId="urn:microsoft.com/office/officeart/2005/8/layout/vList2"/>
    <dgm:cxn modelId="{F839BFFA-988E-4839-BE4F-CF47F03172AA}" srcId="{1958E8BF-B12C-43EC-82CB-BED0740502C6}" destId="{1965749B-8DF2-4E61-B27C-DC64ADF342D5}" srcOrd="3" destOrd="0" parTransId="{8704BC8A-E997-40EC-B473-3B849FDE4456}" sibTransId="{130998C4-73AD-4685-BAA8-391F50D3DEBA}"/>
    <dgm:cxn modelId="{03728CFD-851F-4F25-9518-63E0862355B0}" type="presParOf" srcId="{66421F06-DE67-464E-975B-138C882CB925}" destId="{D6D1FEE5-B199-4980-96A0-B74B5AD62ED6}" srcOrd="0" destOrd="0" presId="urn:microsoft.com/office/officeart/2005/8/layout/vList2"/>
    <dgm:cxn modelId="{5B59B8F7-ACD8-49CC-9B12-51AA5E05D573}" type="presParOf" srcId="{66421F06-DE67-464E-975B-138C882CB925}" destId="{68F2CA65-0165-4E66-B75F-E7337C6FF5DB}" srcOrd="1" destOrd="0" presId="urn:microsoft.com/office/officeart/2005/8/layout/vList2"/>
    <dgm:cxn modelId="{E435DA5F-E948-4303-8BDF-F9466C5AD6C4}" type="presParOf" srcId="{66421F06-DE67-464E-975B-138C882CB925}" destId="{91A16893-7BEF-4319-BE92-014938E37BE8}" srcOrd="2" destOrd="0" presId="urn:microsoft.com/office/officeart/2005/8/layout/vList2"/>
    <dgm:cxn modelId="{CBA72911-9597-42A3-8F49-80D66541AD73}" type="presParOf" srcId="{66421F06-DE67-464E-975B-138C882CB925}" destId="{2BF1F944-4229-4890-B519-53ED525436D3}" srcOrd="3" destOrd="0" presId="urn:microsoft.com/office/officeart/2005/8/layout/vList2"/>
    <dgm:cxn modelId="{6F513B62-055A-460E-8FD6-22AAA3328A62}" type="presParOf" srcId="{66421F06-DE67-464E-975B-138C882CB925}" destId="{E1C478B0-BDEA-4F1B-8A6E-1709A954AB69}" srcOrd="4" destOrd="0" presId="urn:microsoft.com/office/officeart/2005/8/layout/vList2"/>
    <dgm:cxn modelId="{63037506-D3E8-4155-B45F-E10513D39746}" type="presParOf" srcId="{66421F06-DE67-464E-975B-138C882CB925}" destId="{7C0A8912-AF64-40F2-8CE2-BBE7AA3EB5D8}" srcOrd="5" destOrd="0" presId="urn:microsoft.com/office/officeart/2005/8/layout/vList2"/>
    <dgm:cxn modelId="{37A5ABC9-C0CF-4D5A-8480-CBF85402471D}" type="presParOf" srcId="{66421F06-DE67-464E-975B-138C882CB925}" destId="{FA2B1436-0EC5-4B70-A78D-805EC918E4B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8B4855-7ABA-4076-9381-B78D48C24709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CDB81-F199-4583-B9CE-AF0E075F99B7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74CAF-67F8-4FE0-831B-A1371435280C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Frontend:</a:t>
          </a:r>
          <a:r>
            <a:rPr lang="en-GB" sz="2100" kern="1200"/>
            <a:t> React/Next.js (uporabniški vmesnik).</a:t>
          </a:r>
          <a:endParaRPr lang="en-US" sz="2100" kern="1200"/>
        </a:p>
      </dsp:txBody>
      <dsp:txXfrm>
        <a:off x="1339618" y="2288"/>
        <a:ext cx="5024605" cy="1159843"/>
      </dsp:txXfrm>
    </dsp:sp>
    <dsp:sp modelId="{C1622F80-32F1-4A5B-AECC-919B46F39E7C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227D70-F744-4A8E-9B80-960200A55AAA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53B150-42E2-46F3-B33F-3D822D4A0664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Backend:</a:t>
          </a:r>
          <a:r>
            <a:rPr lang="en-GB" sz="2100" kern="1200"/>
            <a:t> Node.js za logiko igre v realnem času.</a:t>
          </a:r>
          <a:endParaRPr lang="en-US" sz="2100" kern="1200"/>
        </a:p>
      </dsp:txBody>
      <dsp:txXfrm>
        <a:off x="1339618" y="1452092"/>
        <a:ext cx="5024605" cy="1159843"/>
      </dsp:txXfrm>
    </dsp:sp>
    <dsp:sp modelId="{7E7A805D-8F39-4398-B0E5-E236836203E0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E23736-31CB-449C-9571-FA22852B91C8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042BD-C0A7-43BB-967E-DE0A1D60F3A0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Blockchain plast:</a:t>
          </a:r>
          <a:r>
            <a:rPr lang="en-GB" sz="2100" kern="1200"/>
            <a:t> Solidity Smart Contracts (za varno hrambo stav in izplačila).</a:t>
          </a:r>
          <a:endParaRPr lang="en-US" sz="2100" kern="1200"/>
        </a:p>
      </dsp:txBody>
      <dsp:txXfrm>
        <a:off x="1339618" y="2901896"/>
        <a:ext cx="5024605" cy="1159843"/>
      </dsp:txXfrm>
    </dsp:sp>
    <dsp:sp modelId="{F49467EC-5B3F-40DC-B1C2-B2C140F078A6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456021-A3F1-4CF8-BE63-3CA366F3F70E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BDFA8-3856-42FF-A12F-4343685D10A8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Denarnica:</a:t>
          </a:r>
          <a:r>
            <a:rPr lang="en-GB" sz="2100" kern="1200"/>
            <a:t> Integracija z MetaMask / Trust Wallet.</a:t>
          </a:r>
          <a:endParaRPr lang="en-US" sz="2100" kern="1200"/>
        </a:p>
      </dsp:txBody>
      <dsp:txXfrm>
        <a:off x="1339618" y="4351700"/>
        <a:ext cx="5024605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86C353-5E9A-465A-A693-0AD1D38D24C3}">
      <dsp:nvSpPr>
        <dsp:cNvPr id="0" name=""/>
        <dsp:cNvSpPr/>
      </dsp:nvSpPr>
      <dsp:spPr>
        <a:xfrm>
          <a:off x="656244" y="0"/>
          <a:ext cx="5338764" cy="5338764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EBEB6-777C-44FF-A459-62199158FA42}">
      <dsp:nvSpPr>
        <dsp:cNvPr id="0" name=""/>
        <dsp:cNvSpPr/>
      </dsp:nvSpPr>
      <dsp:spPr>
        <a:xfrm>
          <a:off x="1003264" y="347019"/>
          <a:ext cx="2135505" cy="2135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Osnovni set kart:</a:t>
          </a:r>
          <a:r>
            <a:rPr lang="en-GB" sz="1800" kern="1200"/>
            <a:t> Fokus na uravnoteženem igranju brez "Pay-to-Win" elementov.</a:t>
          </a:r>
          <a:endParaRPr lang="en-US" sz="1800" kern="1200"/>
        </a:p>
      </dsp:txBody>
      <dsp:txXfrm>
        <a:off x="1107511" y="451266"/>
        <a:ext cx="1927011" cy="1927011"/>
      </dsp:txXfrm>
    </dsp:sp>
    <dsp:sp modelId="{CD66DE47-E557-4986-B0CF-7DE3B9A92006}">
      <dsp:nvSpPr>
        <dsp:cNvPr id="0" name=""/>
        <dsp:cNvSpPr/>
      </dsp:nvSpPr>
      <dsp:spPr>
        <a:xfrm>
          <a:off x="3512483" y="347019"/>
          <a:ext cx="2135505" cy="213550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Matchmaking sistem:</a:t>
          </a:r>
          <a:r>
            <a:rPr lang="en-GB" sz="1800" kern="1200"/>
            <a:t> Hitro iskanje nasprotnika z enakim vložkom.</a:t>
          </a:r>
          <a:endParaRPr lang="en-US" sz="1800" kern="1200"/>
        </a:p>
      </dsp:txBody>
      <dsp:txXfrm>
        <a:off x="3616730" y="451266"/>
        <a:ext cx="1927011" cy="1927011"/>
      </dsp:txXfrm>
    </dsp:sp>
    <dsp:sp modelId="{E475B33D-ABA1-497E-85FE-8D5FC2E73382}">
      <dsp:nvSpPr>
        <dsp:cNvPr id="0" name=""/>
        <dsp:cNvSpPr/>
      </dsp:nvSpPr>
      <dsp:spPr>
        <a:xfrm>
          <a:off x="1003264" y="2856238"/>
          <a:ext cx="2135505" cy="21355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Crypto Wallet Connect:</a:t>
          </a:r>
          <a:r>
            <a:rPr lang="en-GB" sz="1800" kern="1200"/>
            <a:t> Enostavna povezava digitalne denarnice.</a:t>
          </a:r>
          <a:endParaRPr lang="en-US" sz="1800" kern="1200"/>
        </a:p>
      </dsp:txBody>
      <dsp:txXfrm>
        <a:off x="1107511" y="2960485"/>
        <a:ext cx="1927011" cy="1927011"/>
      </dsp:txXfrm>
    </dsp:sp>
    <dsp:sp modelId="{341AB931-22DE-4636-A4C3-B1EB22254970}">
      <dsp:nvSpPr>
        <dsp:cNvPr id="0" name=""/>
        <dsp:cNvSpPr/>
      </dsp:nvSpPr>
      <dsp:spPr>
        <a:xfrm>
          <a:off x="3512483" y="2856238"/>
          <a:ext cx="2135505" cy="21355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Zakaj to?</a:t>
          </a:r>
          <a:r>
            <a:rPr lang="en-GB" sz="1800" kern="1200"/>
            <a:t> Ker želimo najprej dokazati, da sistem izplačil deluje brezhibno in da je igra poštena.</a:t>
          </a:r>
          <a:endParaRPr lang="en-US" sz="1800" kern="1200"/>
        </a:p>
      </dsp:txBody>
      <dsp:txXfrm>
        <a:off x="3616730" y="2960485"/>
        <a:ext cx="1927011" cy="19270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7E6AC-6F4E-4E6A-BE89-32123087F046}">
      <dsp:nvSpPr>
        <dsp:cNvPr id="0" name=""/>
        <dsp:cNvSpPr/>
      </dsp:nvSpPr>
      <dsp:spPr>
        <a:xfrm>
          <a:off x="0" y="126365"/>
          <a:ext cx="3443514" cy="7750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Ciljni trg:</a:t>
          </a:r>
          <a:r>
            <a:rPr lang="en-GB" sz="1100" kern="1200"/>
            <a:t> Mladi gejmerji (18–35 let), ki so že domači v kripto svetu, in "casual" stavničarji, ki iščejo alternativo kazinoju.</a:t>
          </a:r>
          <a:endParaRPr lang="en-US" sz="1100" kern="1200"/>
        </a:p>
      </dsp:txBody>
      <dsp:txXfrm>
        <a:off x="37833" y="164198"/>
        <a:ext cx="3367848" cy="699349"/>
      </dsp:txXfrm>
    </dsp:sp>
    <dsp:sp modelId="{92F59B66-7BBD-4451-A14D-4F79307A7891}">
      <dsp:nvSpPr>
        <dsp:cNvPr id="0" name=""/>
        <dsp:cNvSpPr/>
      </dsp:nvSpPr>
      <dsp:spPr>
        <a:xfrm>
          <a:off x="0" y="933060"/>
          <a:ext cx="3443514" cy="7750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Konkurenca:</a:t>
          </a:r>
          <a:r>
            <a:rPr lang="en-GB" sz="1100" kern="1200"/>
            <a:t> </a:t>
          </a:r>
          <a:r>
            <a:rPr lang="en-GB" sz="1100" i="1" kern="1200"/>
            <a:t>Crypto Snake</a:t>
          </a:r>
          <a:r>
            <a:rPr lang="en-GB" sz="1100" kern="1200"/>
            <a:t> (uspešen model "Slither.io" na blockchainu). Naš projekt gre korak dlje z globino kartaške strategije (podobno kot Hearthstone, a za denar).</a:t>
          </a:r>
          <a:endParaRPr lang="en-US" sz="1100" kern="1200"/>
        </a:p>
      </dsp:txBody>
      <dsp:txXfrm>
        <a:off x="37833" y="970893"/>
        <a:ext cx="3367848" cy="699349"/>
      </dsp:txXfrm>
    </dsp:sp>
    <dsp:sp modelId="{F448A7C0-0121-498F-8249-A24EF5513DE6}">
      <dsp:nvSpPr>
        <dsp:cNvPr id="0" name=""/>
        <dsp:cNvSpPr/>
      </dsp:nvSpPr>
      <dsp:spPr>
        <a:xfrm>
          <a:off x="0" y="1739756"/>
          <a:ext cx="3443514" cy="7750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Poslovni model:</a:t>
          </a:r>
          <a:r>
            <a:rPr lang="en-GB" sz="1100" kern="1200"/>
            <a:t> Podjetje vzame </a:t>
          </a:r>
          <a:r>
            <a:rPr lang="en-GB" sz="1100" b="1" kern="1200"/>
            <a:t>5 % provizije</a:t>
          </a:r>
          <a:r>
            <a:rPr lang="en-GB" sz="1100" kern="1200"/>
            <a:t> od vsake igre (rake).</a:t>
          </a:r>
          <a:endParaRPr lang="en-US" sz="1100" kern="1200"/>
        </a:p>
      </dsp:txBody>
      <dsp:txXfrm>
        <a:off x="37833" y="1777589"/>
        <a:ext cx="3367848" cy="699349"/>
      </dsp:txXfrm>
    </dsp:sp>
    <dsp:sp modelId="{4F622DDC-5D26-489D-BAFD-A1C984214721}">
      <dsp:nvSpPr>
        <dsp:cNvPr id="0" name=""/>
        <dsp:cNvSpPr/>
      </dsp:nvSpPr>
      <dsp:spPr>
        <a:xfrm>
          <a:off x="0" y="2546451"/>
          <a:ext cx="3443514" cy="7750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Primer: Če je skupni sklad 20 USDT, zmagovalec dobi 19,5 USDT (1,95x vložka), 0,5 USDT pa gre za razvoj platforme.</a:t>
          </a:r>
          <a:endParaRPr lang="en-US" sz="1100" kern="1200"/>
        </a:p>
      </dsp:txBody>
      <dsp:txXfrm>
        <a:off x="37833" y="2584284"/>
        <a:ext cx="3367848" cy="6993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D1FEE5-B199-4980-96A0-B74B5AD62ED6}">
      <dsp:nvSpPr>
        <dsp:cNvPr id="0" name=""/>
        <dsp:cNvSpPr/>
      </dsp:nvSpPr>
      <dsp:spPr>
        <a:xfrm>
          <a:off x="0" y="503310"/>
          <a:ext cx="6900512" cy="10740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Povzetek:</a:t>
          </a:r>
          <a:r>
            <a:rPr lang="en-GB" sz="2700" kern="1200"/>
            <a:t> CryptoCards spreminja igranje kart iz hobija v priložnost za zaslužek.</a:t>
          </a:r>
          <a:endParaRPr lang="en-US" sz="2700" kern="1200"/>
        </a:p>
      </dsp:txBody>
      <dsp:txXfrm>
        <a:off x="52431" y="555741"/>
        <a:ext cx="6795650" cy="969198"/>
      </dsp:txXfrm>
    </dsp:sp>
    <dsp:sp modelId="{91A16893-7BEF-4319-BE92-014938E37BE8}">
      <dsp:nvSpPr>
        <dsp:cNvPr id="0" name=""/>
        <dsp:cNvSpPr/>
      </dsp:nvSpPr>
      <dsp:spPr>
        <a:xfrm>
          <a:off x="0" y="1655130"/>
          <a:ext cx="6900512" cy="107406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Glavni adut:</a:t>
          </a:r>
          <a:r>
            <a:rPr lang="en-GB" sz="2700" kern="1200"/>
            <a:t> Znanje &gt; Sreča.</a:t>
          </a:r>
          <a:endParaRPr lang="en-US" sz="2700" kern="1200"/>
        </a:p>
      </dsp:txBody>
      <dsp:txXfrm>
        <a:off x="52431" y="1707561"/>
        <a:ext cx="6795650" cy="969198"/>
      </dsp:txXfrm>
    </dsp:sp>
    <dsp:sp modelId="{E1C478B0-BDEA-4F1B-8A6E-1709A954AB69}">
      <dsp:nvSpPr>
        <dsp:cNvPr id="0" name=""/>
        <dsp:cNvSpPr/>
      </dsp:nvSpPr>
      <dsp:spPr>
        <a:xfrm>
          <a:off x="0" y="2806950"/>
          <a:ext cx="6900512" cy="107406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l-SI" sz="2700" b="1" kern="1200"/>
            <a:t>Naslednji koraki: </a:t>
          </a:r>
          <a:r>
            <a:rPr lang="sl-SI" sz="2700" kern="1200"/>
            <a:t>Razvoj mobilne aplikacije in turnirski način z večjimi nagradnimi skladi.</a:t>
          </a:r>
          <a:endParaRPr lang="en-US" sz="2700" kern="1200"/>
        </a:p>
      </dsp:txBody>
      <dsp:txXfrm>
        <a:off x="52431" y="2859381"/>
        <a:ext cx="6795650" cy="969198"/>
      </dsp:txXfrm>
    </dsp:sp>
    <dsp:sp modelId="{FA2B1436-0EC5-4B70-A78D-805EC918E4BB}">
      <dsp:nvSpPr>
        <dsp:cNvPr id="0" name=""/>
        <dsp:cNvSpPr/>
      </dsp:nvSpPr>
      <dsp:spPr>
        <a:xfrm>
          <a:off x="0" y="3958770"/>
          <a:ext cx="6900512" cy="10740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Poziv k akciji:</a:t>
          </a:r>
          <a:r>
            <a:rPr lang="en-GB" sz="2700" kern="1200"/>
            <a:t> "Ne zapravljaj časa, začni igrati pametno."</a:t>
          </a:r>
          <a:endParaRPr lang="en-US" sz="2700" kern="1200"/>
        </a:p>
      </dsp:txBody>
      <dsp:txXfrm>
        <a:off x="52431" y="4011201"/>
        <a:ext cx="6795650" cy="969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AC1D420-92EF-439C-D317-45534A89A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96425665-2B56-6024-C0D3-F6265912C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  <a:endParaRPr lang="en-GB"/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5DFB954-DB21-FB0E-A77D-9F08434EE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D594-100B-4154-BE70-2DE180EED5FC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97354BB-4F28-E36E-7CF9-F3E26084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7DB8BBD2-B331-C13A-A70B-16BBD80D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FFC91-B5C1-4FBF-83E6-AC62453A9D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442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426D46F-F179-06A6-FAC7-29E1B8D00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82702F52-1472-92E3-DB3F-7A7CEC259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7FAE119-B601-C53A-0E12-287C6F699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D594-100B-4154-BE70-2DE180EED5FC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D50562C4-34DC-ADC3-1AA5-53C3C61A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1EB16121-55E6-9C99-55EA-D4C0E662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FFC91-B5C1-4FBF-83E6-AC62453A9D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720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984E8BE-1897-3F71-EA4D-432200A2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47677352-C4D7-CBAE-3B33-7CEEB7485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16E6EB64-55E1-419B-ED82-B918CC1B3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D594-100B-4154-BE70-2DE180EED5FC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E32FA38D-9F1C-8223-0B8C-B9C46DBD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F780A44C-A2B6-D330-609C-A2950F86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FFC91-B5C1-4FBF-83E6-AC62453A9D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244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F35B163-6EFE-B340-879D-9F8CC14E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CCEAB6E-ACA0-3985-E6FD-899C9A704C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C33CD661-5526-5BF0-780E-8670B0B9E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8215382C-FEB0-7B6F-6F7E-B69E9DC5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D594-100B-4154-BE70-2DE180EED5FC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E34ABE74-8B89-B919-7F5D-23E8CD5E6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C01978DC-32A1-F85E-D2ED-59A24B462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FFC91-B5C1-4FBF-83E6-AC62453A9D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00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0EB116F-9B03-F18A-6D73-0CF88CA1A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CD936BD2-8FF7-5D6B-AA87-27869DC05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7844D713-5EAF-F66E-C43F-F370319C2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2384D829-BC57-3232-C12A-96554171E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30656305-B5F3-7283-8DB2-01032B0A67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FE7E9300-7816-FAE1-3AF4-E1FD93092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D594-100B-4154-BE70-2DE180EED5FC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C6DC7CC2-F195-31D9-748B-5C8C84E4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A516F17F-9D5E-60BA-B1C0-BB48AE28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FFC91-B5C1-4FBF-83E6-AC62453A9D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020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C1DB6D-A3D7-1162-23E6-79D54FC3C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D54112F3-C0FF-239D-497C-4460036C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D594-100B-4154-BE70-2DE180EED5FC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E9EF6D8E-F138-AE7F-BE01-B31B395CB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E694F70C-C179-05C2-76CC-48AC46C1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FFC91-B5C1-4FBF-83E6-AC62453A9D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50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5D6010AE-9C5C-DF06-2E8B-83E0AD7D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D594-100B-4154-BE70-2DE180EED5FC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94B09772-0E68-A509-C2A3-E7375861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44CFC9A1-FCE2-3D29-EF27-23C9122A6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FFC91-B5C1-4FBF-83E6-AC62453A9D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640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81558BB-83A5-696A-9004-6B85A60EA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807EE34B-2C95-A94F-87CD-572BDE030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51062D40-D5D5-26FB-FCB8-1267BED46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5D7384C5-4727-ACE1-9FE9-018DD821A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D594-100B-4154-BE70-2DE180EED5FC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C00AA910-4989-82F5-56BD-7D34CB482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90A698DB-B73A-699C-EC96-0F65F2FFA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FFC91-B5C1-4FBF-83E6-AC62453A9D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495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D8F0A48-EB99-2582-BC83-BCB75F11B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5942AC1D-AEF3-8DFF-24DD-3F2B58EDB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016C872E-0999-3595-3357-309FB6FCF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DFA21649-A537-4015-8CDA-293CC1DD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D594-100B-4154-BE70-2DE180EED5FC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7610378A-2FDB-6744-5984-F7D1BEAA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3E7C8055-0FD9-86AE-0D84-97C8F64FA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FFC91-B5C1-4FBF-83E6-AC62453A9D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60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300FF07-BAA5-9536-02C2-987C3268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E93A1D7B-0DBC-3BCE-222D-DB85BB5A5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CC7C94E7-5655-9AFF-23CF-E2F2B04D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D594-100B-4154-BE70-2DE180EED5FC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EB3FE3D9-8D3B-C516-138E-D258128E4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089FD429-C9E2-8038-385A-AD3969C2A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FFC91-B5C1-4FBF-83E6-AC62453A9D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19DAE89A-E82A-D01A-337B-BD21C67DA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A4A8F5C8-20D2-61BA-292D-8D49A220E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2A022D21-BDD7-6B87-B946-51E03E675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D594-100B-4154-BE70-2DE180EED5FC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E25A1367-4298-BB06-0EBD-9EE5A0EF6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4265A045-B032-6DE8-7849-A98A892A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FFC91-B5C1-4FBF-83E6-AC62453A9D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440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B4DD015C-052F-F6D5-1C3E-B60526481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  <a:endParaRPr lang="en-GB"/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61D76464-F5A8-A866-C4C0-B8F89C11A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GB"/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C803C39-7B84-EF00-CE01-11334C5A7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7FD594-100B-4154-BE70-2DE180EED5FC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A8C2BFC-2D99-5BA0-515F-97B6A445A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C40DBCB6-659E-2EE3-2162-486CE4389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DFFC91-B5C1-4FBF-83E6-AC62453A9D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26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870AA35-A295-91BD-06AE-FB08B9AC5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26" y="1112969"/>
            <a:ext cx="3937298" cy="4166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CRYPTOCARDS</a:t>
            </a:r>
            <a:b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(kjer znanje premaga srečo)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FEBEA240-2B57-1594-3C7C-8FFE8F849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Dijak: Marko Vošner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Šola</a:t>
            </a:r>
            <a:r>
              <a:rPr lang="en-US" dirty="0"/>
              <a:t>: </a:t>
            </a:r>
            <a:r>
              <a:rPr lang="en-US" dirty="0" err="1"/>
              <a:t>Šolski</a:t>
            </a:r>
            <a:r>
              <a:rPr lang="en-US" dirty="0"/>
              <a:t> center </a:t>
            </a:r>
            <a:r>
              <a:rPr lang="en-US" dirty="0" err="1"/>
              <a:t>Velenje</a:t>
            </a:r>
            <a:r>
              <a:rPr lang="en-US" dirty="0"/>
              <a:t>, </a:t>
            </a:r>
            <a:r>
              <a:rPr lang="en-US" dirty="0" err="1"/>
              <a:t>Višja</a:t>
            </a:r>
            <a:r>
              <a:rPr lang="en-US" dirty="0"/>
              <a:t> </a:t>
            </a:r>
            <a:r>
              <a:rPr lang="en-US" dirty="0" err="1"/>
              <a:t>stokovna</a:t>
            </a:r>
            <a:r>
              <a:rPr lang="en-US" dirty="0"/>
              <a:t> </a:t>
            </a:r>
            <a:r>
              <a:rPr lang="en-US" dirty="0" err="1"/>
              <a:t>šola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Smer: </a:t>
            </a:r>
            <a:r>
              <a:rPr lang="en-US" dirty="0" err="1"/>
              <a:t>Informatika</a:t>
            </a:r>
            <a:r>
              <a:rPr lang="en-US" dirty="0"/>
              <a:t> in </a:t>
            </a:r>
            <a:r>
              <a:rPr lang="en-US" dirty="0" err="1"/>
              <a:t>računalništvo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Datum: </a:t>
            </a:r>
            <a:r>
              <a:rPr lang="sl-SI" dirty="0"/>
              <a:t>25</a:t>
            </a:r>
            <a:r>
              <a:rPr lang="en-US" dirty="0"/>
              <a:t>.03.2026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076" name="Picture 4" descr="Use This 3 Simple Step Strategy To Turn Your Skills Into Money | by Naima.M  | Medium">
            <a:extLst>
              <a:ext uri="{FF2B5EF4-FFF2-40B4-BE49-F238E27FC236}">
                <a16:creationId xmlns:a16="http://schemas.microsoft.com/office/drawing/2014/main" id="{8B1605F4-5CDD-56EB-25E5-75240DA5E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479" y="2936831"/>
            <a:ext cx="5102600" cy="3401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38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38F5FEF-64C0-5284-5F95-4A145F657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sl-SI">
                <a:solidFill>
                  <a:srgbClr val="FFFFFF"/>
                </a:solidFill>
              </a:rPr>
              <a:t>Uvod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C959D08-64A5-33DD-8643-5FC369AA9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GB" sz="2600" b="1"/>
              <a:t>Kaj je </a:t>
            </a:r>
            <a:r>
              <a:rPr lang="en-GB" sz="2600" b="1" err="1"/>
              <a:t>CryptoCards</a:t>
            </a:r>
            <a:r>
              <a:rPr lang="en-GB" sz="2600" b="1"/>
              <a:t>? </a:t>
            </a:r>
            <a:r>
              <a:rPr lang="en-GB" sz="2600" err="1"/>
              <a:t>Inovativna</a:t>
            </a:r>
            <a:r>
              <a:rPr lang="en-GB" sz="2600"/>
              <a:t> online </a:t>
            </a:r>
            <a:r>
              <a:rPr lang="en-GB" sz="2600" err="1"/>
              <a:t>platforma</a:t>
            </a:r>
            <a:r>
              <a:rPr lang="en-GB" sz="2600"/>
              <a:t> za </a:t>
            </a:r>
            <a:r>
              <a:rPr lang="en-GB" sz="2600" err="1"/>
              <a:t>igranje</a:t>
            </a:r>
            <a:r>
              <a:rPr lang="en-GB" sz="2600"/>
              <a:t> s </a:t>
            </a:r>
            <a:r>
              <a:rPr lang="en-GB" sz="2600" err="1"/>
              <a:t>kartami</a:t>
            </a:r>
            <a:r>
              <a:rPr lang="en-GB" sz="2600"/>
              <a:t>, </a:t>
            </a:r>
            <a:r>
              <a:rPr lang="en-GB" sz="2600" err="1"/>
              <a:t>kjer</a:t>
            </a:r>
            <a:r>
              <a:rPr lang="en-GB" sz="2600"/>
              <a:t> </a:t>
            </a:r>
            <a:r>
              <a:rPr lang="en-GB" sz="2600" err="1"/>
              <a:t>igralci</a:t>
            </a:r>
            <a:r>
              <a:rPr lang="en-GB" sz="2600"/>
              <a:t> ne </a:t>
            </a:r>
            <a:r>
              <a:rPr lang="en-GB" sz="2600" err="1"/>
              <a:t>tekmujejo</a:t>
            </a:r>
            <a:r>
              <a:rPr lang="en-GB" sz="2600"/>
              <a:t> le za </a:t>
            </a:r>
            <a:r>
              <a:rPr lang="en-GB" sz="2600" err="1"/>
              <a:t>zabavo</a:t>
            </a:r>
            <a:r>
              <a:rPr lang="en-GB" sz="2600"/>
              <a:t>, </a:t>
            </a:r>
            <a:r>
              <a:rPr lang="en-GB" sz="2600" err="1"/>
              <a:t>temveč</a:t>
            </a:r>
            <a:r>
              <a:rPr lang="en-GB" sz="2600"/>
              <a:t> za </a:t>
            </a:r>
            <a:r>
              <a:rPr lang="en-GB" sz="2600" err="1"/>
              <a:t>realne</a:t>
            </a:r>
            <a:r>
              <a:rPr lang="en-GB" sz="2600"/>
              <a:t> </a:t>
            </a:r>
            <a:r>
              <a:rPr lang="en-GB" sz="2600" err="1"/>
              <a:t>kripto</a:t>
            </a:r>
            <a:r>
              <a:rPr lang="en-GB" sz="2600"/>
              <a:t> </a:t>
            </a:r>
            <a:r>
              <a:rPr lang="en-GB" sz="2600" err="1"/>
              <a:t>vložke</a:t>
            </a:r>
            <a:r>
              <a:rPr lang="en-GB" sz="2600"/>
              <a:t>.</a:t>
            </a:r>
            <a:endParaRPr lang="sl-SI" sz="2600"/>
          </a:p>
          <a:p>
            <a:r>
              <a:rPr lang="en-GB" sz="2600" b="1"/>
              <a:t>Trend:</a:t>
            </a:r>
            <a:r>
              <a:rPr lang="en-GB" sz="2600"/>
              <a:t> </a:t>
            </a:r>
            <a:r>
              <a:rPr lang="en-GB" sz="2600" err="1"/>
              <a:t>Združujemo</a:t>
            </a:r>
            <a:r>
              <a:rPr lang="en-GB" sz="2600"/>
              <a:t> </a:t>
            </a:r>
            <a:r>
              <a:rPr lang="en-GB" sz="2600" err="1"/>
              <a:t>svetove</a:t>
            </a:r>
            <a:r>
              <a:rPr lang="en-GB" sz="2600"/>
              <a:t> "Play-to-Earn", blockchain </a:t>
            </a:r>
            <a:r>
              <a:rPr lang="en-GB" sz="2600" err="1"/>
              <a:t>tehnologije</a:t>
            </a:r>
            <a:r>
              <a:rPr lang="en-GB" sz="2600"/>
              <a:t> in </a:t>
            </a:r>
            <a:r>
              <a:rPr lang="en-GB" sz="2600" err="1"/>
              <a:t>kompetitivnega</a:t>
            </a:r>
            <a:r>
              <a:rPr lang="en-GB" sz="2600"/>
              <a:t> </a:t>
            </a:r>
            <a:r>
              <a:rPr lang="en-GB" sz="2600" err="1"/>
              <a:t>igranja</a:t>
            </a:r>
            <a:r>
              <a:rPr lang="en-GB" sz="2600"/>
              <a:t> kart.</a:t>
            </a:r>
            <a:endParaRPr lang="sl-SI" sz="2600"/>
          </a:p>
          <a:p>
            <a:r>
              <a:rPr lang="en-GB" sz="2600" b="1" err="1"/>
              <a:t>Cilj</a:t>
            </a:r>
            <a:r>
              <a:rPr lang="en-GB" sz="2600" b="1"/>
              <a:t>:</a:t>
            </a:r>
            <a:r>
              <a:rPr lang="en-GB" sz="2600"/>
              <a:t> </a:t>
            </a:r>
            <a:r>
              <a:rPr lang="en-GB" sz="2600" err="1"/>
              <a:t>Pokazati</a:t>
            </a:r>
            <a:r>
              <a:rPr lang="en-GB" sz="2600"/>
              <a:t>, </a:t>
            </a:r>
            <a:r>
              <a:rPr lang="en-GB" sz="2600" err="1"/>
              <a:t>kako</a:t>
            </a:r>
            <a:r>
              <a:rPr lang="en-GB" sz="2600"/>
              <a:t> </a:t>
            </a:r>
            <a:r>
              <a:rPr lang="en-GB" sz="2600" err="1"/>
              <a:t>lahko</a:t>
            </a:r>
            <a:r>
              <a:rPr lang="en-GB" sz="2600"/>
              <a:t> </a:t>
            </a:r>
            <a:r>
              <a:rPr lang="en-GB" sz="2600" err="1"/>
              <a:t>igralci</a:t>
            </a:r>
            <a:r>
              <a:rPr lang="en-GB" sz="2600"/>
              <a:t> </a:t>
            </a:r>
            <a:r>
              <a:rPr lang="en-GB" sz="2600" err="1"/>
              <a:t>svoj</a:t>
            </a:r>
            <a:r>
              <a:rPr lang="en-GB" sz="2600"/>
              <a:t> </a:t>
            </a:r>
            <a:r>
              <a:rPr lang="en-GB" sz="2600" err="1"/>
              <a:t>čas</a:t>
            </a:r>
            <a:r>
              <a:rPr lang="en-GB" sz="2600"/>
              <a:t> in </a:t>
            </a:r>
            <a:r>
              <a:rPr lang="en-GB" sz="2600" err="1"/>
              <a:t>veščine</a:t>
            </a:r>
            <a:r>
              <a:rPr lang="en-GB" sz="2600"/>
              <a:t> </a:t>
            </a:r>
            <a:r>
              <a:rPr lang="en-GB" sz="2600" err="1"/>
              <a:t>končno</a:t>
            </a:r>
            <a:r>
              <a:rPr lang="en-GB" sz="2600"/>
              <a:t> </a:t>
            </a:r>
            <a:r>
              <a:rPr lang="en-GB" sz="2600" err="1"/>
              <a:t>unovčijo</a:t>
            </a:r>
            <a:r>
              <a:rPr lang="en-GB" sz="2600"/>
              <a:t> </a:t>
            </a:r>
            <a:r>
              <a:rPr lang="en-GB" sz="2600" err="1"/>
              <a:t>na</a:t>
            </a:r>
            <a:r>
              <a:rPr lang="en-GB" sz="2600"/>
              <a:t> </a:t>
            </a:r>
            <a:r>
              <a:rPr lang="en-GB" sz="2600" err="1"/>
              <a:t>varen</a:t>
            </a:r>
            <a:r>
              <a:rPr lang="en-GB" sz="2600"/>
              <a:t> in </a:t>
            </a:r>
            <a:r>
              <a:rPr lang="en-GB" sz="2600" err="1"/>
              <a:t>transparenten</a:t>
            </a:r>
            <a:r>
              <a:rPr lang="en-GB" sz="2600"/>
              <a:t> </a:t>
            </a:r>
            <a:r>
              <a:rPr lang="en-GB" sz="2600" err="1"/>
              <a:t>način</a:t>
            </a:r>
            <a:r>
              <a:rPr lang="en-GB" sz="2600"/>
              <a:t>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96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60FE0FB-128E-CA88-7A78-0D9DD4E06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sl-SI">
                <a:solidFill>
                  <a:srgbClr val="FFFFFF"/>
                </a:solidFill>
              </a:rPr>
              <a:t>Problem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76AC4603-170F-0BE0-E1BC-005C3B062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GB" sz="2200" b="1" err="1"/>
              <a:t>Izguba</a:t>
            </a:r>
            <a:r>
              <a:rPr lang="en-GB" sz="2200" b="1"/>
              <a:t> </a:t>
            </a:r>
            <a:r>
              <a:rPr lang="en-GB" sz="2200" b="1" err="1"/>
              <a:t>časa</a:t>
            </a:r>
            <a:r>
              <a:rPr lang="en-GB" sz="2200" b="1"/>
              <a:t>:</a:t>
            </a:r>
            <a:r>
              <a:rPr lang="en-GB" sz="2200"/>
              <a:t> </a:t>
            </a:r>
            <a:r>
              <a:rPr lang="en-GB" sz="2200" err="1"/>
              <a:t>Povprečen</a:t>
            </a:r>
            <a:r>
              <a:rPr lang="en-GB" sz="2200"/>
              <a:t> </a:t>
            </a:r>
            <a:r>
              <a:rPr lang="en-GB" sz="2200" err="1"/>
              <a:t>gejmer</a:t>
            </a:r>
            <a:r>
              <a:rPr lang="en-GB" sz="2200"/>
              <a:t> </a:t>
            </a:r>
            <a:r>
              <a:rPr lang="en-GB" sz="2200" err="1"/>
              <a:t>preživi</a:t>
            </a:r>
            <a:r>
              <a:rPr lang="en-GB" sz="2200"/>
              <a:t> pred </a:t>
            </a:r>
            <a:r>
              <a:rPr lang="en-GB" sz="2200" err="1"/>
              <a:t>zaslonom</a:t>
            </a:r>
            <a:r>
              <a:rPr lang="en-GB" sz="2200"/>
              <a:t> 8 </a:t>
            </a:r>
            <a:r>
              <a:rPr lang="en-GB" sz="2200" err="1"/>
              <a:t>ur</a:t>
            </a:r>
            <a:r>
              <a:rPr lang="en-GB" sz="2200"/>
              <a:t> </a:t>
            </a:r>
            <a:r>
              <a:rPr lang="en-GB" sz="2200" err="1"/>
              <a:t>na</a:t>
            </a:r>
            <a:r>
              <a:rPr lang="en-GB" sz="2200"/>
              <a:t> dan, od </a:t>
            </a:r>
            <a:r>
              <a:rPr lang="en-GB" sz="2200" err="1"/>
              <a:t>tega</a:t>
            </a:r>
            <a:r>
              <a:rPr lang="en-GB" sz="2200"/>
              <a:t> pa (</a:t>
            </a:r>
            <a:r>
              <a:rPr lang="en-GB" sz="2200" err="1"/>
              <a:t>razen</a:t>
            </a:r>
            <a:r>
              <a:rPr lang="en-GB" sz="2200"/>
              <a:t> </a:t>
            </a:r>
            <a:r>
              <a:rPr lang="en-GB" sz="2200" err="1"/>
              <a:t>zabave</a:t>
            </a:r>
            <a:r>
              <a:rPr lang="en-GB" sz="2200"/>
              <a:t>) </a:t>
            </a:r>
            <a:r>
              <a:rPr lang="en-GB" sz="2200" err="1"/>
              <a:t>nima</a:t>
            </a:r>
            <a:r>
              <a:rPr lang="en-GB" sz="2200"/>
              <a:t> </a:t>
            </a:r>
            <a:r>
              <a:rPr lang="en-GB" sz="2200" err="1"/>
              <a:t>nobene</a:t>
            </a:r>
            <a:r>
              <a:rPr lang="en-GB" sz="2200"/>
              <a:t> </a:t>
            </a:r>
            <a:r>
              <a:rPr lang="en-GB" sz="2200" err="1"/>
              <a:t>finančne</a:t>
            </a:r>
            <a:r>
              <a:rPr lang="en-GB" sz="2200"/>
              <a:t> </a:t>
            </a:r>
            <a:r>
              <a:rPr lang="en-GB" sz="2200" err="1"/>
              <a:t>koristi</a:t>
            </a:r>
            <a:r>
              <a:rPr lang="en-GB" sz="2200"/>
              <a:t>.</a:t>
            </a:r>
            <a:endParaRPr lang="sl-SI" sz="2200"/>
          </a:p>
          <a:p>
            <a:r>
              <a:rPr lang="en-GB" sz="2200" b="1"/>
              <a:t>Problem </a:t>
            </a:r>
            <a:r>
              <a:rPr lang="en-GB" sz="2200" b="1" err="1"/>
              <a:t>sreče</a:t>
            </a:r>
            <a:r>
              <a:rPr lang="en-GB" sz="2200" b="1"/>
              <a:t>:</a:t>
            </a:r>
            <a:r>
              <a:rPr lang="en-GB" sz="2200"/>
              <a:t> Online </a:t>
            </a:r>
            <a:r>
              <a:rPr lang="en-GB" sz="2200" err="1"/>
              <a:t>kazinoji</a:t>
            </a:r>
            <a:r>
              <a:rPr lang="en-GB" sz="2200"/>
              <a:t> </a:t>
            </a:r>
            <a:r>
              <a:rPr lang="en-GB" sz="2200" err="1"/>
              <a:t>temeljijo</a:t>
            </a:r>
            <a:r>
              <a:rPr lang="en-GB" sz="2200"/>
              <a:t> </a:t>
            </a:r>
            <a:r>
              <a:rPr lang="en-GB" sz="2200" err="1"/>
              <a:t>na</a:t>
            </a:r>
            <a:r>
              <a:rPr lang="en-GB" sz="2200"/>
              <a:t> </a:t>
            </a:r>
            <a:r>
              <a:rPr lang="en-GB" sz="2200" err="1"/>
              <a:t>algoritmih</a:t>
            </a:r>
            <a:r>
              <a:rPr lang="en-GB" sz="2200"/>
              <a:t> </a:t>
            </a:r>
            <a:r>
              <a:rPr lang="en-GB" sz="2200" err="1"/>
              <a:t>sreče</a:t>
            </a:r>
            <a:r>
              <a:rPr lang="en-GB" sz="2200"/>
              <a:t>, </a:t>
            </a:r>
            <a:r>
              <a:rPr lang="en-GB" sz="2200" err="1"/>
              <a:t>kjer</a:t>
            </a:r>
            <a:r>
              <a:rPr lang="en-GB" sz="2200"/>
              <a:t> </a:t>
            </a:r>
            <a:r>
              <a:rPr lang="en-GB" sz="2200" err="1"/>
              <a:t>hiša</a:t>
            </a:r>
            <a:r>
              <a:rPr lang="en-GB" sz="2200"/>
              <a:t> </a:t>
            </a:r>
            <a:r>
              <a:rPr lang="en-GB" sz="2200" err="1"/>
              <a:t>vedno</a:t>
            </a:r>
            <a:r>
              <a:rPr lang="en-GB" sz="2200"/>
              <a:t> </a:t>
            </a:r>
            <a:r>
              <a:rPr lang="en-GB" sz="2200" err="1"/>
              <a:t>zmaga</a:t>
            </a:r>
            <a:r>
              <a:rPr lang="en-GB" sz="2200"/>
              <a:t>. </a:t>
            </a:r>
            <a:r>
              <a:rPr lang="en-GB" sz="2200" err="1"/>
              <a:t>Igralci</a:t>
            </a:r>
            <a:r>
              <a:rPr lang="en-GB" sz="2200"/>
              <a:t> </a:t>
            </a:r>
            <a:r>
              <a:rPr lang="en-GB" sz="2200" err="1"/>
              <a:t>nimajo</a:t>
            </a:r>
            <a:r>
              <a:rPr lang="en-GB" sz="2200"/>
              <a:t> </a:t>
            </a:r>
            <a:r>
              <a:rPr lang="en-GB" sz="2200" err="1"/>
              <a:t>pravega</a:t>
            </a:r>
            <a:r>
              <a:rPr lang="en-GB" sz="2200"/>
              <a:t> </a:t>
            </a:r>
            <a:r>
              <a:rPr lang="en-GB" sz="2200" err="1"/>
              <a:t>nadzora</a:t>
            </a:r>
            <a:r>
              <a:rPr lang="en-GB" sz="2200"/>
              <a:t> </a:t>
            </a:r>
            <a:r>
              <a:rPr lang="en-GB" sz="2200" err="1"/>
              <a:t>nad</a:t>
            </a:r>
            <a:r>
              <a:rPr lang="en-GB" sz="2200"/>
              <a:t> </a:t>
            </a:r>
            <a:r>
              <a:rPr lang="en-GB" sz="2200" err="1"/>
              <a:t>izidom</a:t>
            </a:r>
            <a:r>
              <a:rPr lang="en-GB" sz="2200"/>
              <a:t>.</a:t>
            </a:r>
            <a:endParaRPr lang="sl-SI" sz="2200"/>
          </a:p>
          <a:p>
            <a:r>
              <a:rPr lang="en-GB" sz="2200" b="1" err="1"/>
              <a:t>Bolečina</a:t>
            </a:r>
            <a:r>
              <a:rPr lang="en-GB" sz="2200" b="1"/>
              <a:t>:</a:t>
            </a:r>
            <a:r>
              <a:rPr lang="en-GB" sz="2200"/>
              <a:t> </a:t>
            </a:r>
            <a:r>
              <a:rPr lang="en-GB" sz="2200" err="1"/>
              <a:t>Strastni</a:t>
            </a:r>
            <a:r>
              <a:rPr lang="en-GB" sz="2200"/>
              <a:t> </a:t>
            </a:r>
            <a:r>
              <a:rPr lang="en-GB" sz="2200" err="1"/>
              <a:t>igralci</a:t>
            </a:r>
            <a:r>
              <a:rPr lang="en-GB" sz="2200"/>
              <a:t> </a:t>
            </a:r>
            <a:r>
              <a:rPr lang="en-GB" sz="2200" err="1"/>
              <a:t>želijo</a:t>
            </a:r>
            <a:r>
              <a:rPr lang="en-GB" sz="2200"/>
              <a:t> </a:t>
            </a:r>
            <a:r>
              <a:rPr lang="en-GB" sz="2200" err="1"/>
              <a:t>tekmovati</a:t>
            </a:r>
            <a:r>
              <a:rPr lang="en-GB" sz="2200"/>
              <a:t> za denar, a ne </a:t>
            </a:r>
            <a:r>
              <a:rPr lang="en-GB" sz="2200" err="1"/>
              <a:t>želijo</a:t>
            </a:r>
            <a:r>
              <a:rPr lang="en-GB" sz="2200"/>
              <a:t> </a:t>
            </a:r>
            <a:r>
              <a:rPr lang="en-GB" sz="2200" err="1"/>
              <a:t>staviti</a:t>
            </a:r>
            <a:r>
              <a:rPr lang="en-GB" sz="2200"/>
              <a:t> </a:t>
            </a:r>
            <a:r>
              <a:rPr lang="en-GB" sz="2200" err="1"/>
              <a:t>na</a:t>
            </a:r>
            <a:r>
              <a:rPr lang="en-GB" sz="2200"/>
              <a:t> "</a:t>
            </a:r>
            <a:r>
              <a:rPr lang="en-GB" sz="2200" err="1"/>
              <a:t>ruleto</a:t>
            </a:r>
            <a:r>
              <a:rPr lang="en-GB" sz="2200"/>
              <a:t>", </a:t>
            </a:r>
            <a:r>
              <a:rPr lang="en-GB" sz="2200" err="1"/>
              <a:t>ampak</a:t>
            </a:r>
            <a:r>
              <a:rPr lang="en-GB" sz="2200"/>
              <a:t> </a:t>
            </a:r>
            <a:r>
              <a:rPr lang="en-GB" sz="2200" err="1"/>
              <a:t>na</a:t>
            </a:r>
            <a:r>
              <a:rPr lang="en-GB" sz="2200"/>
              <a:t> </a:t>
            </a:r>
            <a:r>
              <a:rPr lang="en-GB" sz="2200" err="1"/>
              <a:t>svoje</a:t>
            </a:r>
            <a:r>
              <a:rPr lang="en-GB" sz="2200"/>
              <a:t> </a:t>
            </a:r>
            <a:r>
              <a:rPr lang="en-GB" sz="2200" err="1"/>
              <a:t>znanje</a:t>
            </a:r>
            <a:r>
              <a:rPr lang="en-GB" sz="2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70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slov 1">
            <a:extLst>
              <a:ext uri="{FF2B5EF4-FFF2-40B4-BE49-F238E27FC236}">
                <a16:creationId xmlns:a16="http://schemas.microsoft.com/office/drawing/2014/main" id="{3C3FA5B2-CC1B-C541-3FA2-FBFEB7C1B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sl-SI" sz="3600">
                <a:solidFill>
                  <a:schemeClr val="tx2"/>
                </a:solidFill>
              </a:rPr>
              <a:t>Rešitev</a:t>
            </a:r>
            <a:endParaRPr lang="en-GB" sz="3600">
              <a:solidFill>
                <a:schemeClr val="tx2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9EEA063-502A-542A-DE5B-2526150AF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GB" sz="1800" b="1">
                <a:solidFill>
                  <a:schemeClr val="tx2"/>
                </a:solidFill>
              </a:rPr>
              <a:t>Skill-Based Gaming:</a:t>
            </a:r>
            <a:r>
              <a:rPr lang="en-GB" sz="1800">
                <a:solidFill>
                  <a:schemeClr val="tx2"/>
                </a:solidFill>
              </a:rPr>
              <a:t> Pri CryptoCards zmaga tisti, ki bolje pozna igro in strategijo, ne tisti, ki ima več sreče.</a:t>
            </a:r>
            <a:endParaRPr lang="sl-SI" sz="1800">
              <a:solidFill>
                <a:schemeClr val="tx2"/>
              </a:solidFill>
            </a:endParaRPr>
          </a:p>
          <a:p>
            <a:r>
              <a:rPr lang="en-GB" sz="1800" b="1">
                <a:solidFill>
                  <a:schemeClr val="tx2"/>
                </a:solidFill>
              </a:rPr>
              <a:t>P2P stavi:</a:t>
            </a:r>
            <a:r>
              <a:rPr lang="en-GB" sz="1800">
                <a:solidFill>
                  <a:schemeClr val="tx2"/>
                </a:solidFill>
              </a:rPr>
              <a:t> Igralca se dogovorita za znesek (npr. vsak 10 USDT). Pametna pogodba (Smart Contract) drži sredstva in jih samodejno izplača zmagovalcu.</a:t>
            </a:r>
            <a:endParaRPr lang="sl-SI" sz="1800">
              <a:solidFill>
                <a:schemeClr val="tx2"/>
              </a:solidFill>
            </a:endParaRPr>
          </a:p>
          <a:p>
            <a:r>
              <a:rPr lang="en-GB" sz="1800" b="1">
                <a:solidFill>
                  <a:schemeClr val="tx2"/>
                </a:solidFill>
              </a:rPr>
              <a:t>Glavna prednost:</a:t>
            </a:r>
            <a:r>
              <a:rPr lang="en-GB" sz="1800">
                <a:solidFill>
                  <a:schemeClr val="tx2"/>
                </a:solidFill>
              </a:rPr>
              <a:t> Popolna transparentnost preko blockchaina in občutek dosežka, ko tvoj trud prinese zaslužek.</a:t>
            </a:r>
          </a:p>
        </p:txBody>
      </p:sp>
    </p:spTree>
    <p:extLst>
      <p:ext uri="{BB962C8B-B14F-4D97-AF65-F5344CB8AC3E}">
        <p14:creationId xmlns:p14="http://schemas.microsoft.com/office/powerpoint/2010/main" val="867140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E5A778D-8A09-6A7E-32DD-62305CB0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sl-SI" sz="4000"/>
              <a:t>Arhitektura sistema</a:t>
            </a:r>
            <a:endParaRPr lang="en-GB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Označba mesta vsebine 2">
            <a:extLst>
              <a:ext uri="{FF2B5EF4-FFF2-40B4-BE49-F238E27FC236}">
                <a16:creationId xmlns:a16="http://schemas.microsoft.com/office/drawing/2014/main" id="{FBC48011-FE6D-3BC2-9D43-E4F770DCD0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79246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5904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A316FB6D-A604-9FF0-CE56-E33E3D0EB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sl-SI" dirty="0"/>
              <a:t>Minimalni </a:t>
            </a:r>
            <a:r>
              <a:rPr lang="sl-SI" dirty="0" err="1"/>
              <a:t>viabilni</a:t>
            </a:r>
            <a:r>
              <a:rPr lang="sl-SI" dirty="0"/>
              <a:t> produkt</a:t>
            </a:r>
            <a:endParaRPr lang="en-GB" dirty="0"/>
          </a:p>
        </p:txBody>
      </p:sp>
      <p:graphicFrame>
        <p:nvGraphicFramePr>
          <p:cNvPr id="12" name="Označba mesta vsebine 2">
            <a:extLst>
              <a:ext uri="{FF2B5EF4-FFF2-40B4-BE49-F238E27FC236}">
                <a16:creationId xmlns:a16="http://schemas.microsoft.com/office/drawing/2014/main" id="{175B6E86-7926-36A2-49F7-68960D180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5606873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9329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A92EDD2-80B1-514C-5566-286BB1A55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anchor="b">
            <a:normAutofit/>
          </a:bodyPr>
          <a:lstStyle/>
          <a:p>
            <a:r>
              <a:rPr lang="sl-SI" sz="3200"/>
              <a:t>Tržna analiza</a:t>
            </a:r>
            <a:endParaRPr lang="en-GB" sz="320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A4DD7B79-3B53-961E-C8A7-3B2F017D7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4" y="1781292"/>
            <a:ext cx="6449549" cy="3224774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Označba mesta vsebine 2">
            <a:extLst>
              <a:ext uri="{FF2B5EF4-FFF2-40B4-BE49-F238E27FC236}">
                <a16:creationId xmlns:a16="http://schemas.microsoft.com/office/drawing/2014/main" id="{637D40AC-9CA3-4C83-2100-64B55DCD77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8213656"/>
              </p:ext>
            </p:extLst>
          </p:nvPr>
        </p:nvGraphicFramePr>
        <p:xfrm>
          <a:off x="7910285" y="2533476"/>
          <a:ext cx="3443514" cy="344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23359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271759A-FFF0-054D-7975-BA8A46663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sl-SI" sz="5400"/>
              <a:t>Zaključek</a:t>
            </a:r>
            <a:endParaRPr lang="en-GB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Označba mesta vsebine 2">
            <a:extLst>
              <a:ext uri="{FF2B5EF4-FFF2-40B4-BE49-F238E27FC236}">
                <a16:creationId xmlns:a16="http://schemas.microsoft.com/office/drawing/2014/main" id="{1C3607BA-F5F3-7DBF-CD5A-4060248F72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104838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1134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B5E3AEE-E25D-8E29-510F-FAF6DF5A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94B167C-3442-03AF-3184-8765C4679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BE700B11-E786-3761-970F-2794AA531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1160" y="0"/>
            <a:ext cx="12632712" cy="694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44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isar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483</Words>
  <Application>Microsoft Office PowerPoint</Application>
  <PresentationFormat>Širokozaslonsko</PresentationFormat>
  <Paragraphs>37</Paragraphs>
  <Slides>9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Officeova tema</vt:lpstr>
      <vt:lpstr>CRYPTOCARDS (kjer znanje premaga srečo)</vt:lpstr>
      <vt:lpstr>Uvod</vt:lpstr>
      <vt:lpstr>Problem</vt:lpstr>
      <vt:lpstr>Rešitev</vt:lpstr>
      <vt:lpstr>Arhitektura sistema</vt:lpstr>
      <vt:lpstr>Minimalni viabilni produkt</vt:lpstr>
      <vt:lpstr>Tržna analiza</vt:lpstr>
      <vt:lpstr>Zaključek</vt:lpstr>
      <vt:lpstr>PowerPointova predstavitev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Vošner, Janez</dc:creator>
  <cp:lastModifiedBy>Vošner, Janez</cp:lastModifiedBy>
  <cp:revision>4</cp:revision>
  <dcterms:created xsi:type="dcterms:W3CDTF">2026-03-30T18:37:46Z</dcterms:created>
  <dcterms:modified xsi:type="dcterms:W3CDTF">2026-03-31T00:25:19Z</dcterms:modified>
</cp:coreProperties>
</file>